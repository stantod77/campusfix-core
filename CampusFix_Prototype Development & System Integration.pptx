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7" r:id="rId1"/>
  </p:sldMasterIdLst>
  <p:notesMasterIdLst>
    <p:notesMasterId r:id="rId11"/>
  </p:notesMasterIdLst>
  <p:sldIdLst>
    <p:sldId id="256" r:id="rId2"/>
    <p:sldId id="257" r:id="rId3"/>
    <p:sldId id="263" r:id="rId4"/>
    <p:sldId id="264" r:id="rId5"/>
    <p:sldId id="258" r:id="rId6"/>
    <p:sldId id="260" r:id="rId7"/>
    <p:sldId id="259" r:id="rId8"/>
    <p:sldId id="261" r:id="rId9"/>
    <p:sldId id="262" r:id="rId1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0"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C550FEE-8409-45A1-9DF1-3327F2CFD5A1}" type="datetimeFigureOut">
              <a:rPr lang="en-US" smtClean="0"/>
              <a:t>3/27/2026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3022DED-3014-4D5F-8B39-40E0F8040DA2}" type="slidenum">
              <a:rPr lang="en-US" smtClean="0"/>
              <a:t>‹#›</a:t>
            </a:fld>
            <a:endParaRPr lang="en-US"/>
          </a:p>
        </p:txBody>
      </p:sp>
    </p:spTree>
    <p:extLst>
      <p:ext uri="{BB962C8B-B14F-4D97-AF65-F5344CB8AC3E}">
        <p14:creationId xmlns:p14="http://schemas.microsoft.com/office/powerpoint/2010/main" val="31672736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95269" y="1122363"/>
            <a:ext cx="9001462" cy="2387600"/>
          </a:xfrm>
        </p:spPr>
        <p:txBody>
          <a:bodyPr anchor="b">
            <a:normAutofit/>
          </a:bodyPr>
          <a:lstStyle>
            <a:lvl1pPr algn="ctr">
              <a:defRPr sz="4800"/>
            </a:lvl1pPr>
          </a:lstStyle>
          <a:p>
            <a:r>
              <a:rPr lang="en-US"/>
              <a:t>Click to edit Master title style</a:t>
            </a:r>
            <a:endParaRPr lang="en-US" dirty="0"/>
          </a:p>
        </p:txBody>
      </p:sp>
      <p:sp>
        <p:nvSpPr>
          <p:cNvPr id="3" name="Subtitle 2"/>
          <p:cNvSpPr>
            <a:spLocks noGrp="1"/>
          </p:cNvSpPr>
          <p:nvPr>
            <p:ph type="subTitle" idx="1"/>
          </p:nvPr>
        </p:nvSpPr>
        <p:spPr>
          <a:xfrm>
            <a:off x="1595269" y="3602038"/>
            <a:ext cx="9001462"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7FF7973D-A990-4BB7-9E26-240B3BA08096}" type="datetimeFigureOut">
              <a:rPr lang="en-US" smtClean="0"/>
              <a:t>3/27/2026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1F66123-66F3-4BBD-B94F-633D80355971}" type="slidenum">
              <a:rPr lang="en-US" smtClean="0"/>
              <a:t>‹#›</a:t>
            </a:fld>
            <a:endParaRPr lang="en-US"/>
          </a:p>
        </p:txBody>
      </p:sp>
    </p:spTree>
    <p:extLst>
      <p:ext uri="{BB962C8B-B14F-4D97-AF65-F5344CB8AC3E}">
        <p14:creationId xmlns:p14="http://schemas.microsoft.com/office/powerpoint/2010/main" val="34762574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FF7973D-A990-4BB7-9E26-240B3BA08096}" type="datetimeFigureOut">
              <a:rPr lang="en-US" smtClean="0"/>
              <a:t>3/27/2026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1F66123-66F3-4BBD-B94F-633D80355971}" type="slidenum">
              <a:rPr lang="en-US" smtClean="0"/>
              <a:t>‹#›</a:t>
            </a:fld>
            <a:endParaRPr lang="en-US"/>
          </a:p>
        </p:txBody>
      </p:sp>
    </p:spTree>
    <p:extLst>
      <p:ext uri="{BB962C8B-B14F-4D97-AF65-F5344CB8AC3E}">
        <p14:creationId xmlns:p14="http://schemas.microsoft.com/office/powerpoint/2010/main" val="24859365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29244" y="657226"/>
            <a:ext cx="9733512" cy="2852737"/>
          </a:xfrm>
        </p:spPr>
        <p:txBody>
          <a:bodyPr anchor="b">
            <a:normAutofit/>
          </a:bodyPr>
          <a:lstStyle>
            <a:lvl1pPr>
              <a:defRPr sz="3400"/>
            </a:lvl1pPr>
          </a:lstStyle>
          <a:p>
            <a:r>
              <a:rPr lang="en-US"/>
              <a:t>Click to edit Master title style</a:t>
            </a:r>
            <a:endParaRPr lang="en-US" dirty="0"/>
          </a:p>
        </p:txBody>
      </p:sp>
      <p:sp>
        <p:nvSpPr>
          <p:cNvPr id="3" name="Text Placeholder 2"/>
          <p:cNvSpPr>
            <a:spLocks noGrp="1"/>
          </p:cNvSpPr>
          <p:nvPr>
            <p:ph type="body" idx="1"/>
          </p:nvPr>
        </p:nvSpPr>
        <p:spPr>
          <a:xfrm>
            <a:off x="1229244" y="3602038"/>
            <a:ext cx="9733512" cy="1500187"/>
          </a:xfrm>
        </p:spPr>
        <p:txBody>
          <a:bodyPr/>
          <a:lstStyle>
            <a:lvl1pPr marL="0" indent="0" algn="ctr">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FF7973D-A990-4BB7-9E26-240B3BA08096}" type="datetimeFigureOut">
              <a:rPr lang="en-US" smtClean="0"/>
              <a:t>3/27/2026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1F66123-66F3-4BBD-B94F-633D80355971}" type="slidenum">
              <a:rPr lang="en-US" smtClean="0"/>
              <a:t>‹#›</a:t>
            </a:fld>
            <a:endParaRPr lang="en-US"/>
          </a:p>
        </p:txBody>
      </p:sp>
    </p:spTree>
    <p:extLst>
      <p:ext uri="{BB962C8B-B14F-4D97-AF65-F5344CB8AC3E}">
        <p14:creationId xmlns:p14="http://schemas.microsoft.com/office/powerpoint/2010/main" val="39481277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1" cy="1326321"/>
          </a:xfrm>
        </p:spPr>
        <p:txBody>
          <a:bodyPr/>
          <a:lstStyle/>
          <a:p>
            <a:r>
              <a:rPr lang="en-US"/>
              <a:t>Click to edit Master title style</a:t>
            </a:r>
            <a:endParaRPr lang="en-US" dirty="0"/>
          </a:p>
        </p:txBody>
      </p:sp>
      <p:sp>
        <p:nvSpPr>
          <p:cNvPr id="3" name="Content Placeholder 2"/>
          <p:cNvSpPr>
            <a:spLocks noGrp="1"/>
          </p:cNvSpPr>
          <p:nvPr>
            <p:ph sz="half" idx="1"/>
          </p:nvPr>
        </p:nvSpPr>
        <p:spPr>
          <a:xfrm>
            <a:off x="913795" y="2088319"/>
            <a:ext cx="5106004" cy="370288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3403" y="2088319"/>
            <a:ext cx="5094154" cy="370288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FF7973D-A990-4BB7-9E26-240B3BA08096}" type="datetimeFigureOut">
              <a:rPr lang="en-US" smtClean="0"/>
              <a:t>3/27/2026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1F66123-66F3-4BBD-B94F-633D80355971}" type="slidenum">
              <a:rPr lang="en-US" smtClean="0"/>
              <a:t>‹#›</a:t>
            </a:fld>
            <a:endParaRPr lang="en-US"/>
          </a:p>
        </p:txBody>
      </p:sp>
    </p:spTree>
    <p:extLst>
      <p:ext uri="{BB962C8B-B14F-4D97-AF65-F5344CB8AC3E}">
        <p14:creationId xmlns:p14="http://schemas.microsoft.com/office/powerpoint/2010/main" val="31925908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1"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1141804" y="2088320"/>
            <a:ext cx="4879199" cy="823912"/>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913795" y="2912232"/>
            <a:ext cx="5107208" cy="28789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2003" y="2088320"/>
            <a:ext cx="4865554" cy="823912"/>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912232"/>
            <a:ext cx="5095357" cy="28789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7FF7973D-A990-4BB7-9E26-240B3BA08096}" type="datetimeFigureOut">
              <a:rPr lang="en-US" smtClean="0"/>
              <a:t>3/27/2026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1F66123-66F3-4BBD-B94F-633D80355971}" type="slidenum">
              <a:rPr lang="en-US" smtClean="0"/>
              <a:t>‹#›</a:t>
            </a:fld>
            <a:endParaRPr lang="en-US"/>
          </a:p>
        </p:txBody>
      </p:sp>
    </p:spTree>
    <p:extLst>
      <p:ext uri="{BB962C8B-B14F-4D97-AF65-F5344CB8AC3E}">
        <p14:creationId xmlns:p14="http://schemas.microsoft.com/office/powerpoint/2010/main" val="6716836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FF7973D-A990-4BB7-9E26-240B3BA08096}" type="datetimeFigureOut">
              <a:rPr lang="en-US" smtClean="0"/>
              <a:t>3/27/2026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1F66123-66F3-4BBD-B94F-633D80355971}" type="slidenum">
              <a:rPr lang="en-US" smtClean="0"/>
              <a:t>‹#›</a:t>
            </a:fld>
            <a:endParaRPr lang="en-US"/>
          </a:p>
        </p:txBody>
      </p:sp>
    </p:spTree>
    <p:extLst>
      <p:ext uri="{BB962C8B-B14F-4D97-AF65-F5344CB8AC3E}">
        <p14:creationId xmlns:p14="http://schemas.microsoft.com/office/powerpoint/2010/main" val="22714367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FF7973D-A990-4BB7-9E26-240B3BA08096}" type="datetimeFigureOut">
              <a:rPr lang="en-US" smtClean="0"/>
              <a:t>3/27/2026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1F66123-66F3-4BBD-B94F-633D80355971}" type="slidenum">
              <a:rPr lang="en-US" smtClean="0"/>
              <a:t>‹#›</a:t>
            </a:fld>
            <a:endParaRPr lang="en-US"/>
          </a:p>
        </p:txBody>
      </p:sp>
    </p:spTree>
    <p:extLst>
      <p:ext uri="{BB962C8B-B14F-4D97-AF65-F5344CB8AC3E}">
        <p14:creationId xmlns:p14="http://schemas.microsoft.com/office/powerpoint/2010/main" val="19499444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7228" y="609600"/>
            <a:ext cx="3932237" cy="2362200"/>
          </a:xfrm>
        </p:spPr>
        <p:txBody>
          <a:bodyPr anchor="b">
            <a:normAutofit/>
          </a:bodyPr>
          <a:lstStyle>
            <a:lvl1pPr>
              <a:defRPr sz="2800"/>
            </a:lvl1pPr>
          </a:lstStyle>
          <a:p>
            <a:r>
              <a:rPr lang="en-US"/>
              <a:t>Click to edit Master title style</a:t>
            </a:r>
            <a:endParaRPr lang="en-US" dirty="0"/>
          </a:p>
        </p:txBody>
      </p:sp>
      <p:sp>
        <p:nvSpPr>
          <p:cNvPr id="3" name="Content Placeholder 2"/>
          <p:cNvSpPr>
            <a:spLocks noGrp="1"/>
          </p:cNvSpPr>
          <p:nvPr>
            <p:ph idx="1"/>
          </p:nvPr>
        </p:nvSpPr>
        <p:spPr>
          <a:xfrm>
            <a:off x="5078064" y="609600"/>
            <a:ext cx="6189492" cy="5181600"/>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7228" y="2971800"/>
            <a:ext cx="3932237" cy="2819399"/>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FF7973D-A990-4BB7-9E26-240B3BA08096}" type="datetimeFigureOut">
              <a:rPr lang="en-US" smtClean="0"/>
              <a:t>3/27/2026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1F66123-66F3-4BBD-B94F-633D80355971}" type="slidenum">
              <a:rPr lang="en-US" smtClean="0"/>
              <a:t>‹#›</a:t>
            </a:fld>
            <a:endParaRPr lang="en-US"/>
          </a:p>
        </p:txBody>
      </p:sp>
    </p:spTree>
    <p:extLst>
      <p:ext uri="{BB962C8B-B14F-4D97-AF65-F5344CB8AC3E}">
        <p14:creationId xmlns:p14="http://schemas.microsoft.com/office/powerpoint/2010/main" val="22884739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7227" y="609600"/>
            <a:ext cx="5929773" cy="2362200"/>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24804" y="758881"/>
            <a:ext cx="3255356" cy="4883038"/>
          </a:xfrm>
          <a:no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4" y="2971800"/>
            <a:ext cx="5934950" cy="2819400"/>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FF7973D-A990-4BB7-9E26-240B3BA08096}" type="datetimeFigureOut">
              <a:rPr lang="en-US" smtClean="0"/>
              <a:t>3/27/2026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1F66123-66F3-4BBD-B94F-633D80355971}" type="slidenum">
              <a:rPr lang="en-US" smtClean="0"/>
              <a:t>‹#›</a:t>
            </a:fld>
            <a:endParaRPr lang="en-US"/>
          </a:p>
        </p:txBody>
      </p:sp>
    </p:spTree>
    <p:extLst>
      <p:ext uri="{BB962C8B-B14F-4D97-AF65-F5344CB8AC3E}">
        <p14:creationId xmlns:p14="http://schemas.microsoft.com/office/powerpoint/2010/main" val="7952206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3806" y="4289372"/>
            <a:ext cx="10367564" cy="819355"/>
          </a:xfrm>
        </p:spPr>
        <p:txBody>
          <a:bodyPr anchor="b">
            <a:normAutofit/>
          </a:bodyPr>
          <a:lstStyle>
            <a:lvl1pPr>
              <a:defRPr sz="2800"/>
            </a:lvl1pPr>
          </a:lstStyle>
          <a:p>
            <a:r>
              <a:rPr lang="en-US"/>
              <a:t>Click to edit Master title style</a:t>
            </a:r>
            <a:endParaRPr lang="en-US" dirty="0"/>
          </a:p>
        </p:txBody>
      </p:sp>
      <p:sp>
        <p:nvSpPr>
          <p:cNvPr id="3" name="Picture Placeholder 2"/>
          <p:cNvSpPr>
            <a:spLocks noGrp="1" noChangeAspect="1"/>
          </p:cNvSpPr>
          <p:nvPr>
            <p:ph type="pic" idx="1"/>
          </p:nvPr>
        </p:nvSpPr>
        <p:spPr>
          <a:xfrm>
            <a:off x="913806" y="621321"/>
            <a:ext cx="10367564" cy="3379735"/>
          </a:xfrm>
          <a:no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5" y="5108728"/>
            <a:ext cx="10365998" cy="682472"/>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FF7973D-A990-4BB7-9E26-240B3BA08096}" type="datetimeFigureOut">
              <a:rPr lang="en-US" smtClean="0"/>
              <a:t>3/27/2026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1F66123-66F3-4BBD-B94F-633D80355971}" type="slidenum">
              <a:rPr lang="en-US" smtClean="0"/>
              <a:t>‹#›</a:t>
            </a:fld>
            <a:endParaRPr lang="en-US"/>
          </a:p>
        </p:txBody>
      </p:sp>
    </p:spTree>
    <p:extLst>
      <p:ext uri="{BB962C8B-B14F-4D97-AF65-F5344CB8AC3E}">
        <p14:creationId xmlns:p14="http://schemas.microsoft.com/office/powerpoint/2010/main" val="27110513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2" cy="3424859"/>
          </a:xfrm>
        </p:spPr>
        <p:txBody>
          <a:bodyPr anchor="ctr"/>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95" y="4204820"/>
            <a:ext cx="10353761" cy="159218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FF7973D-A990-4BB7-9E26-240B3BA08096}" type="datetimeFigureOut">
              <a:rPr lang="en-US" smtClean="0"/>
              <a:t>3/27/2026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1F66123-66F3-4BBD-B94F-633D80355971}" type="slidenum">
              <a:rPr lang="en-US" smtClean="0"/>
              <a:t>‹#›</a:t>
            </a:fld>
            <a:endParaRPr lang="en-US"/>
          </a:p>
        </p:txBody>
      </p:sp>
    </p:spTree>
    <p:extLst>
      <p:ext uri="{BB962C8B-B14F-4D97-AF65-F5344CB8AC3E}">
        <p14:creationId xmlns:p14="http://schemas.microsoft.com/office/powerpoint/2010/main" val="319478455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426812"/>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94" y="4204821"/>
            <a:ext cx="10353762" cy="1586380"/>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FF7973D-A990-4BB7-9E26-240B3BA08096}" type="datetimeFigureOut">
              <a:rPr lang="en-US" smtClean="0"/>
              <a:t>3/27/2026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1F66123-66F3-4BBD-B94F-633D80355971}" type="slidenum">
              <a:rPr lang="en-US" smtClean="0"/>
              <a:t>‹#›</a:t>
            </a:fld>
            <a:endParaRPr lang="en-US"/>
          </a:p>
        </p:txBody>
      </p:sp>
      <p:sp>
        <p:nvSpPr>
          <p:cNvPr id="11" name="TextBox 10"/>
          <p:cNvSpPr txBox="1"/>
          <p:nvPr/>
        </p:nvSpPr>
        <p:spPr>
          <a:xfrm>
            <a:off x="836612" y="735241"/>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p:cNvSpPr txBox="1"/>
          <p:nvPr/>
        </p:nvSpPr>
        <p:spPr>
          <a:xfrm>
            <a:off x="10657956" y="297209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74396554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913806" y="2126942"/>
            <a:ext cx="10355327" cy="2511835"/>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94" y="4650556"/>
            <a:ext cx="10353763"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FF7973D-A990-4BB7-9E26-240B3BA08096}" type="datetimeFigureOut">
              <a:rPr lang="en-US" smtClean="0"/>
              <a:t>3/27/2026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1F66123-66F3-4BBD-B94F-633D80355971}" type="slidenum">
              <a:rPr lang="en-US" smtClean="0"/>
              <a:t>‹#›</a:t>
            </a:fld>
            <a:endParaRPr lang="en-US"/>
          </a:p>
        </p:txBody>
      </p:sp>
    </p:spTree>
    <p:extLst>
      <p:ext uri="{BB962C8B-B14F-4D97-AF65-F5344CB8AC3E}">
        <p14:creationId xmlns:p14="http://schemas.microsoft.com/office/powerpoint/2010/main" val="354383952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913794" y="609600"/>
            <a:ext cx="10353762" cy="1325563"/>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94" y="2088319"/>
            <a:ext cx="3298956" cy="823305"/>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94" y="2911624"/>
            <a:ext cx="3298956"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44878" y="2088320"/>
            <a:ext cx="3298558" cy="823304"/>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4878" y="2911624"/>
            <a:ext cx="3299821"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73298" y="2088320"/>
            <a:ext cx="3291211" cy="823304"/>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76346" y="2911624"/>
            <a:ext cx="3291211"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7FF7973D-A990-4BB7-9E26-240B3BA08096}" type="datetimeFigureOut">
              <a:rPr lang="en-US" smtClean="0"/>
              <a:t>3/27/2026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1F66123-66F3-4BBD-B94F-633D80355971}" type="slidenum">
              <a:rPr lang="en-US" smtClean="0"/>
              <a:t>‹#›</a:t>
            </a:fld>
            <a:endParaRPr lang="en-US"/>
          </a:p>
        </p:txBody>
      </p:sp>
    </p:spTree>
    <p:extLst>
      <p:ext uri="{BB962C8B-B14F-4D97-AF65-F5344CB8AC3E}">
        <p14:creationId xmlns:p14="http://schemas.microsoft.com/office/powerpoint/2010/main" val="224394254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913795" y="609600"/>
            <a:ext cx="10353762" cy="1325563"/>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95" y="4195899"/>
            <a:ext cx="3298955"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092020" y="2298987"/>
            <a:ext cx="2940050"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95" y="4772161"/>
            <a:ext cx="3298955" cy="101903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01" y="4195899"/>
            <a:ext cx="3298983"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568996" y="2298987"/>
            <a:ext cx="2930525"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348" y="4772160"/>
            <a:ext cx="3300336" cy="101903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73423" y="4195899"/>
            <a:ext cx="3289900"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8152803" y="2298987"/>
            <a:ext cx="2932113"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73298" y="4772161"/>
            <a:ext cx="3294258" cy="1019037"/>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7FF7973D-A990-4BB7-9E26-240B3BA08096}" type="datetimeFigureOut">
              <a:rPr lang="en-US" smtClean="0"/>
              <a:t>3/27/2026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1F66123-66F3-4BBD-B94F-633D80355971}" type="slidenum">
              <a:rPr lang="en-US" smtClean="0"/>
              <a:t>‹#›</a:t>
            </a:fld>
            <a:endParaRPr lang="en-US"/>
          </a:p>
        </p:txBody>
      </p:sp>
    </p:spTree>
    <p:extLst>
      <p:ext uri="{BB962C8B-B14F-4D97-AF65-F5344CB8AC3E}">
        <p14:creationId xmlns:p14="http://schemas.microsoft.com/office/powerpoint/2010/main" val="189199401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FF7973D-A990-4BB7-9E26-240B3BA08096}" type="datetimeFigureOut">
              <a:rPr lang="en-US" smtClean="0"/>
              <a:t>3/27/2026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1F66123-66F3-4BBD-B94F-633D80355971}" type="slidenum">
              <a:rPr lang="en-US" smtClean="0"/>
              <a:t>‹#›</a:t>
            </a:fld>
            <a:endParaRPr lang="en-US"/>
          </a:p>
        </p:txBody>
      </p:sp>
    </p:spTree>
    <p:extLst>
      <p:ext uri="{BB962C8B-B14F-4D97-AF65-F5344CB8AC3E}">
        <p14:creationId xmlns:p14="http://schemas.microsoft.com/office/powerpoint/2010/main" val="166788551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609599"/>
            <a:ext cx="2542657" cy="5181601"/>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913794" y="609599"/>
            <a:ext cx="7658705" cy="51816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FF7973D-A990-4BB7-9E26-240B3BA08096}" type="datetimeFigureOut">
              <a:rPr lang="en-US" smtClean="0"/>
              <a:t>3/27/2026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1F66123-66F3-4BBD-B94F-633D80355971}" type="slidenum">
              <a:rPr lang="en-US" smtClean="0"/>
              <a:t>‹#›</a:t>
            </a:fld>
            <a:endParaRPr lang="en-US"/>
          </a:p>
        </p:txBody>
      </p:sp>
    </p:spTree>
    <p:extLst>
      <p:ext uri="{BB962C8B-B14F-4D97-AF65-F5344CB8AC3E}">
        <p14:creationId xmlns:p14="http://schemas.microsoft.com/office/powerpoint/2010/main" val="29840836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1" cy="1326321"/>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95" y="2096064"/>
            <a:ext cx="10353762" cy="369513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6" y="5883275"/>
            <a:ext cx="2743200"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7FF7973D-A990-4BB7-9E26-240B3BA08096}" type="datetimeFigureOut">
              <a:rPr lang="en-US" smtClean="0"/>
              <a:t>3/27/2026</a:t>
            </a:fld>
            <a:endParaRPr lang="en-US"/>
          </a:p>
        </p:txBody>
      </p:sp>
      <p:sp>
        <p:nvSpPr>
          <p:cNvPr id="5" name="Footer Placeholder 4"/>
          <p:cNvSpPr>
            <a:spLocks noGrp="1"/>
          </p:cNvSpPr>
          <p:nvPr>
            <p:ph type="ftr" sz="quarter" idx="3"/>
          </p:nvPr>
        </p:nvSpPr>
        <p:spPr>
          <a:xfrm>
            <a:off x="913794" y="5883275"/>
            <a:ext cx="6672865" cy="365125"/>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10514011" y="5883275"/>
            <a:ext cx="753545"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D1F66123-66F3-4BBD-B94F-633D80355971}" type="slidenum">
              <a:rPr lang="en-US" smtClean="0"/>
              <a:t>‹#›</a:t>
            </a:fld>
            <a:endParaRPr lang="en-US"/>
          </a:p>
        </p:txBody>
      </p:sp>
    </p:spTree>
    <p:extLst>
      <p:ext uri="{BB962C8B-B14F-4D97-AF65-F5344CB8AC3E}">
        <p14:creationId xmlns:p14="http://schemas.microsoft.com/office/powerpoint/2010/main" val="2157805686"/>
      </p:ext>
    </p:extLst>
  </p:cSld>
  <p:clrMap bg1="dk1" tx1="lt1" bg2="dk2" tx2="lt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 id="2147483689" r:id="rId12"/>
    <p:sldLayoutId id="2147483690" r:id="rId13"/>
    <p:sldLayoutId id="2147483691" r:id="rId14"/>
    <p:sldLayoutId id="2147483692" r:id="rId15"/>
    <p:sldLayoutId id="2147483693" r:id="rId16"/>
    <p:sldLayoutId id="2147483694" r:id="rId17"/>
  </p:sldLayoutIdLst>
  <p:txStyles>
    <p:titleStyle>
      <a:lvl1pPr algn="ctr" defTabSz="914400" rtl="0" eaLnBrk="1" latinLnBrk="0" hangingPunct="1">
        <a:lnSpc>
          <a:spcPct val="90000"/>
        </a:lnSpc>
        <a:spcBef>
          <a:spcPct val="0"/>
        </a:spcBef>
        <a:buNone/>
        <a:defRPr sz="3400" b="1" i="0" kern="1200" cap="all">
          <a:solidFill>
            <a:schemeClr val="tx1"/>
          </a:solidFill>
          <a:effectLst>
            <a:outerShdw blurRad="50800" dist="63500" dir="2700000" algn="tl" rotWithShape="0">
              <a:srgbClr val="000000">
                <a:alpha val="48000"/>
              </a:srgbClr>
            </a:outerShdw>
          </a:effectLst>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effectLst>
            <a:outerShdw blurRad="50800" dist="38100" dir="2700000" algn="tl" rotWithShape="0">
              <a:srgbClr val="000000">
                <a:alpha val="48000"/>
              </a:srgbClr>
            </a:outerShdw>
          </a:effectLst>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effectLst>
            <a:outerShdw blurRad="50800" dist="38100" dir="2700000" algn="tl" rotWithShape="0">
              <a:srgbClr val="000000">
                <a:alpha val="48000"/>
              </a:srgbClr>
            </a:outerShdw>
          </a:effectLst>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effectLst>
            <a:outerShdw blurRad="50800" dist="38100" dir="2700000" algn="tl" rotWithShape="0">
              <a:srgbClr val="000000">
                <a:alpha val="48000"/>
              </a:srgbClr>
            </a:outerShdw>
          </a:effectLst>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effectLst>
            <a:outerShdw blurRad="50800" dist="38100" dir="2700000" algn="tl" rotWithShape="0">
              <a:srgbClr val="000000">
                <a:alpha val="48000"/>
              </a:srgbClr>
            </a:outerShdw>
          </a:effectLst>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5pPr>
      <a:lvl6pPr marL="25146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6pPr>
      <a:lvl7pPr marL="29718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7pPr>
      <a:lvl8pPr marL="3429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8pPr>
      <a:lvl9pPr marL="3886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589E2A-A614-2647-2625-3F57E07F4E54}"/>
              </a:ext>
            </a:extLst>
          </p:cNvPr>
          <p:cNvSpPr>
            <a:spLocks noGrp="1"/>
          </p:cNvSpPr>
          <p:nvPr>
            <p:ph type="ctrTitle"/>
          </p:nvPr>
        </p:nvSpPr>
        <p:spPr>
          <a:xfrm>
            <a:off x="1595269" y="2076085"/>
            <a:ext cx="9001462" cy="2387600"/>
          </a:xfrm>
        </p:spPr>
        <p:txBody>
          <a:bodyPr>
            <a:noAutofit/>
          </a:bodyPr>
          <a:lstStyle/>
          <a:p>
            <a:r>
              <a:rPr lang="en-US" sz="4000" dirty="0" err="1">
                <a:effectLst/>
              </a:rPr>
              <a:t>CampusFix</a:t>
            </a:r>
            <a:r>
              <a:rPr lang="en-US" sz="4000" dirty="0">
                <a:effectLst/>
              </a:rPr>
              <a:t>: Smart Facility Maintenance Management System</a:t>
            </a:r>
            <a:br>
              <a:rPr lang="en-US" sz="4000" dirty="0">
                <a:effectLst/>
              </a:rPr>
            </a:br>
            <a:br>
              <a:rPr lang="en-US" sz="4000" dirty="0">
                <a:effectLst/>
              </a:rPr>
            </a:br>
            <a:r>
              <a:rPr lang="en-US" sz="4000" dirty="0"/>
              <a:t> Prototype Development &amp; System Integration</a:t>
            </a:r>
          </a:p>
        </p:txBody>
      </p:sp>
      <p:sp>
        <p:nvSpPr>
          <p:cNvPr id="3" name="Subtitle 2">
            <a:extLst>
              <a:ext uri="{FF2B5EF4-FFF2-40B4-BE49-F238E27FC236}">
                <a16:creationId xmlns:a16="http://schemas.microsoft.com/office/drawing/2014/main" id="{84852F1E-EAE6-6507-BE6A-6E8DD90A5B52}"/>
              </a:ext>
            </a:extLst>
          </p:cNvPr>
          <p:cNvSpPr>
            <a:spLocks noGrp="1"/>
          </p:cNvSpPr>
          <p:nvPr>
            <p:ph type="subTitle" idx="1"/>
          </p:nvPr>
        </p:nvSpPr>
        <p:spPr>
          <a:xfrm>
            <a:off x="1595269" y="4747093"/>
            <a:ext cx="9001462" cy="1655762"/>
          </a:xfrm>
        </p:spPr>
        <p:txBody>
          <a:bodyPr/>
          <a:lstStyle/>
          <a:p>
            <a:r>
              <a:rPr lang="en-US" dirty="0"/>
              <a:t>Stanimir Todorov,  Mohamad </a:t>
            </a:r>
            <a:r>
              <a:rPr lang="en-US" dirty="0" err="1"/>
              <a:t>Alkary</a:t>
            </a:r>
            <a:r>
              <a:rPr lang="en-US" dirty="0"/>
              <a:t>, Kaleb Yang, Philip Valer</a:t>
            </a:r>
          </a:p>
        </p:txBody>
      </p:sp>
      <p:sp>
        <p:nvSpPr>
          <p:cNvPr id="4" name="Date Placeholder 3">
            <a:extLst>
              <a:ext uri="{FF2B5EF4-FFF2-40B4-BE49-F238E27FC236}">
                <a16:creationId xmlns:a16="http://schemas.microsoft.com/office/drawing/2014/main" id="{B76787CE-7E61-580D-5534-0DEE2C460573}"/>
              </a:ext>
            </a:extLst>
          </p:cNvPr>
          <p:cNvSpPr>
            <a:spLocks noGrp="1"/>
          </p:cNvSpPr>
          <p:nvPr>
            <p:ph type="dt" sz="half" idx="10"/>
          </p:nvPr>
        </p:nvSpPr>
        <p:spPr/>
        <p:txBody>
          <a:bodyPr/>
          <a:lstStyle/>
          <a:p>
            <a:fld id="{6735850C-5487-4562-A97D-CDB9CF9E74F3}" type="datetime1">
              <a:rPr lang="en-US" smtClean="0"/>
              <a:t>3/27/2026</a:t>
            </a:fld>
            <a:endParaRPr lang="en-US"/>
          </a:p>
        </p:txBody>
      </p:sp>
    </p:spTree>
    <p:extLst>
      <p:ext uri="{BB962C8B-B14F-4D97-AF65-F5344CB8AC3E}">
        <p14:creationId xmlns:p14="http://schemas.microsoft.com/office/powerpoint/2010/main" val="383147302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18000"/>
                <a:satMod val="160000"/>
                <a:lumMod val="28000"/>
              </a:schemeClr>
              <a:schemeClr val="bg2">
                <a:tint val="95000"/>
                <a:satMod val="160000"/>
                <a:lumMod val="116000"/>
              </a:schemeClr>
            </a:duotone>
          </a:blip>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DD597A-E031-FBEE-84E7-005926F8A31B}"/>
              </a:ext>
            </a:extLst>
          </p:cNvPr>
          <p:cNvSpPr>
            <a:spLocks noGrp="1"/>
          </p:cNvSpPr>
          <p:nvPr>
            <p:ph type="title"/>
          </p:nvPr>
        </p:nvSpPr>
        <p:spPr>
          <a:xfrm>
            <a:off x="913795" y="609600"/>
            <a:ext cx="10353761" cy="1326321"/>
          </a:xfrm>
        </p:spPr>
        <p:txBody>
          <a:bodyPr>
            <a:normAutofit/>
          </a:bodyPr>
          <a:lstStyle/>
          <a:p>
            <a:r>
              <a:rPr lang="en-US" sz="2400" dirty="0"/>
              <a:t>Prototype Overview (Admin Control Center)</a:t>
            </a:r>
            <a:endParaRPr lang="en-US" sz="2100" dirty="0"/>
          </a:p>
        </p:txBody>
      </p:sp>
      <p:sp>
        <p:nvSpPr>
          <p:cNvPr id="5" name="Rectangle 2">
            <a:extLst>
              <a:ext uri="{FF2B5EF4-FFF2-40B4-BE49-F238E27FC236}">
                <a16:creationId xmlns:a16="http://schemas.microsoft.com/office/drawing/2014/main" id="{8E8AF705-C830-6F48-BBAD-52662E244D33}"/>
              </a:ext>
            </a:extLst>
          </p:cNvPr>
          <p:cNvSpPr>
            <a:spLocks noGrp="1" noChangeArrowheads="1"/>
          </p:cNvSpPr>
          <p:nvPr>
            <p:ph idx="1"/>
          </p:nvPr>
        </p:nvSpPr>
        <p:spPr bwMode="auto">
          <a:xfrm>
            <a:off x="914400" y="2542968"/>
            <a:ext cx="3696929" cy="2800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mj-lt"/>
              </a:rPr>
              <a:t>Modernized UI/UX</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600" b="1" i="0" u="none" strike="noStrike" cap="none" normalizeH="0" baseline="0" dirty="0">
              <a:ln>
                <a:noFill/>
              </a:ln>
              <a:solidFill>
                <a:schemeClr val="tx1"/>
              </a:solidFill>
              <a:effectLst/>
              <a:latin typeface="+mj-l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mj-lt"/>
              </a:rPr>
              <a:t>Live Analytics:</a:t>
            </a:r>
            <a:r>
              <a:rPr kumimoji="0" lang="en-US" altLang="en-US" sz="1600" b="0" i="0" u="none" strike="noStrike" cap="none" normalizeH="0" baseline="0" dirty="0">
                <a:ln>
                  <a:noFill/>
                </a:ln>
                <a:solidFill>
                  <a:schemeClr val="tx1"/>
                </a:solidFill>
                <a:effectLst/>
                <a:latin typeface="+mj-lt"/>
              </a:rPr>
              <a:t> Integrated </a:t>
            </a:r>
            <a:r>
              <a:rPr kumimoji="0" lang="en-US" altLang="en-US" sz="1600" i="0" u="none" strike="noStrike" cap="none" normalizeH="0" baseline="0" dirty="0">
                <a:ln>
                  <a:noFill/>
                </a:ln>
                <a:solidFill>
                  <a:schemeClr val="tx1"/>
                </a:solidFill>
                <a:effectLst/>
                <a:latin typeface="+mj-lt"/>
              </a:rPr>
              <a:t>Chart.js </a:t>
            </a:r>
            <a:r>
              <a:rPr kumimoji="0" lang="en-US" altLang="en-US" sz="1600" b="0" i="0" u="none" strike="noStrike" cap="none" normalizeH="0" baseline="0" dirty="0">
                <a:ln>
                  <a:noFill/>
                </a:ln>
                <a:solidFill>
                  <a:schemeClr val="tx1"/>
                </a:solidFill>
                <a:effectLst/>
                <a:latin typeface="+mj-lt"/>
              </a:rPr>
              <a:t>to provide real-time data on issue distribution (Electrical, Plumbing, IT).</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600" b="0" i="0" u="none" strike="noStrike" cap="none" normalizeH="0" baseline="0" dirty="0">
              <a:ln>
                <a:noFill/>
              </a:ln>
              <a:solidFill>
                <a:schemeClr val="tx1"/>
              </a:solidFill>
              <a:effectLst/>
              <a:latin typeface="+mj-l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mj-lt"/>
              </a:rPr>
              <a:t>Executive Triage:</a:t>
            </a:r>
            <a:r>
              <a:rPr kumimoji="0" lang="en-US" altLang="en-US" sz="1600" b="0" i="0" u="none" strike="noStrike" cap="none" normalizeH="0" baseline="0" dirty="0">
                <a:ln>
                  <a:noFill/>
                </a:ln>
                <a:solidFill>
                  <a:schemeClr val="tx1"/>
                </a:solidFill>
                <a:effectLst/>
                <a:latin typeface="+mj-lt"/>
              </a:rPr>
              <a:t> High-visibility "Stat Cards" for immediate tracking of Level 5 Emergencies and daily volume.</a:t>
            </a:r>
          </a:p>
        </p:txBody>
      </p:sp>
      <p:pic>
        <p:nvPicPr>
          <p:cNvPr id="7" name="Picture 6">
            <a:extLst>
              <a:ext uri="{FF2B5EF4-FFF2-40B4-BE49-F238E27FC236}">
                <a16:creationId xmlns:a16="http://schemas.microsoft.com/office/drawing/2014/main" id="{E23871CE-DE6F-7C20-00E8-9D7EDE838F73}"/>
              </a:ext>
            </a:extLst>
          </p:cNvPr>
          <p:cNvPicPr>
            <a:picLocks noChangeAspect="1"/>
          </p:cNvPicPr>
          <p:nvPr/>
        </p:nvPicPr>
        <p:blipFill>
          <a:blip r:embed="rId3"/>
          <a:stretch>
            <a:fillRect/>
          </a:stretch>
        </p:blipFill>
        <p:spPr>
          <a:xfrm>
            <a:off x="4722207" y="2192584"/>
            <a:ext cx="7125661" cy="3712384"/>
          </a:xfrm>
          <a:prstGeom prst="rect">
            <a:avLst/>
          </a:prstGeom>
        </p:spPr>
      </p:pic>
    </p:spTree>
    <p:extLst>
      <p:ext uri="{BB962C8B-B14F-4D97-AF65-F5344CB8AC3E}">
        <p14:creationId xmlns:p14="http://schemas.microsoft.com/office/powerpoint/2010/main" val="24101844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18000"/>
                <a:satMod val="160000"/>
                <a:lumMod val="28000"/>
              </a:schemeClr>
              <a:schemeClr val="bg2">
                <a:tint val="95000"/>
                <a:satMod val="160000"/>
                <a:lumMod val="116000"/>
              </a:schemeClr>
            </a:duotone>
          </a:blip>
          <a:stretch/>
        </a:blipFill>
        <a:effectLst/>
      </p:bgPr>
    </p:bg>
    <p:spTree>
      <p:nvGrpSpPr>
        <p:cNvPr id="1" name="">
          <a:extLst>
            <a:ext uri="{FF2B5EF4-FFF2-40B4-BE49-F238E27FC236}">
              <a16:creationId xmlns:a16="http://schemas.microsoft.com/office/drawing/2014/main" id="{37F49BA5-6C00-F919-2969-3DF85E404A9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DC2563F-40D0-5BC8-ABBD-786705B9F332}"/>
              </a:ext>
            </a:extLst>
          </p:cNvPr>
          <p:cNvSpPr>
            <a:spLocks noGrp="1"/>
          </p:cNvSpPr>
          <p:nvPr>
            <p:ph type="title"/>
          </p:nvPr>
        </p:nvSpPr>
        <p:spPr>
          <a:xfrm>
            <a:off x="913795" y="609600"/>
            <a:ext cx="10353761" cy="1326321"/>
          </a:xfrm>
        </p:spPr>
        <p:txBody>
          <a:bodyPr>
            <a:normAutofit/>
          </a:bodyPr>
          <a:lstStyle/>
          <a:p>
            <a:r>
              <a:rPr lang="en-US" sz="2400" dirty="0"/>
              <a:t>Prototype Overview (Admin Control Center)</a:t>
            </a:r>
            <a:endParaRPr lang="en-US" sz="2100" dirty="0"/>
          </a:p>
        </p:txBody>
      </p:sp>
      <p:pic>
        <p:nvPicPr>
          <p:cNvPr id="6" name="Picture 5">
            <a:extLst>
              <a:ext uri="{FF2B5EF4-FFF2-40B4-BE49-F238E27FC236}">
                <a16:creationId xmlns:a16="http://schemas.microsoft.com/office/drawing/2014/main" id="{FD9D88BB-AE3F-77FB-5E67-1BC161C06A2C}"/>
              </a:ext>
            </a:extLst>
          </p:cNvPr>
          <p:cNvPicPr>
            <a:picLocks noChangeAspect="1"/>
          </p:cNvPicPr>
          <p:nvPr/>
        </p:nvPicPr>
        <p:blipFill>
          <a:blip r:embed="rId3"/>
          <a:stretch>
            <a:fillRect/>
          </a:stretch>
        </p:blipFill>
        <p:spPr>
          <a:xfrm>
            <a:off x="221064" y="1728836"/>
            <a:ext cx="11746523" cy="4991832"/>
          </a:xfrm>
          <a:prstGeom prst="rect">
            <a:avLst/>
          </a:prstGeom>
        </p:spPr>
      </p:pic>
    </p:spTree>
    <p:extLst>
      <p:ext uri="{BB962C8B-B14F-4D97-AF65-F5344CB8AC3E}">
        <p14:creationId xmlns:p14="http://schemas.microsoft.com/office/powerpoint/2010/main" val="31270224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18000"/>
                <a:satMod val="160000"/>
                <a:lumMod val="28000"/>
              </a:schemeClr>
              <a:schemeClr val="bg2">
                <a:tint val="95000"/>
                <a:satMod val="160000"/>
                <a:lumMod val="116000"/>
              </a:schemeClr>
            </a:duotone>
          </a:blip>
          <a:stretch/>
        </a:blipFill>
        <a:effectLst/>
      </p:bgPr>
    </p:bg>
    <p:spTree>
      <p:nvGrpSpPr>
        <p:cNvPr id="1" name="">
          <a:extLst>
            <a:ext uri="{FF2B5EF4-FFF2-40B4-BE49-F238E27FC236}">
              <a16:creationId xmlns:a16="http://schemas.microsoft.com/office/drawing/2014/main" id="{EE491ECC-7AC6-9BB0-F63C-F37DE3CB468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DE87D83-AEAA-CC25-373D-2DE47CCB9EB0}"/>
              </a:ext>
            </a:extLst>
          </p:cNvPr>
          <p:cNvSpPr>
            <a:spLocks noGrp="1"/>
          </p:cNvSpPr>
          <p:nvPr>
            <p:ph type="title"/>
          </p:nvPr>
        </p:nvSpPr>
        <p:spPr>
          <a:xfrm>
            <a:off x="913795" y="609600"/>
            <a:ext cx="10353761" cy="1326321"/>
          </a:xfrm>
        </p:spPr>
        <p:txBody>
          <a:bodyPr>
            <a:normAutofit/>
          </a:bodyPr>
          <a:lstStyle/>
          <a:p>
            <a:r>
              <a:rPr lang="en-US" sz="2400" dirty="0"/>
              <a:t>Prototype Overview (Admin Control Center)</a:t>
            </a:r>
            <a:endParaRPr lang="en-US" sz="2100" dirty="0"/>
          </a:p>
        </p:txBody>
      </p:sp>
      <p:pic>
        <p:nvPicPr>
          <p:cNvPr id="4" name="Picture 3">
            <a:extLst>
              <a:ext uri="{FF2B5EF4-FFF2-40B4-BE49-F238E27FC236}">
                <a16:creationId xmlns:a16="http://schemas.microsoft.com/office/drawing/2014/main" id="{71D55161-4D4E-8A82-BA0E-EFFAFD086E82}"/>
              </a:ext>
            </a:extLst>
          </p:cNvPr>
          <p:cNvPicPr>
            <a:picLocks noChangeAspect="1"/>
          </p:cNvPicPr>
          <p:nvPr/>
        </p:nvPicPr>
        <p:blipFill>
          <a:blip r:embed="rId3"/>
          <a:stretch>
            <a:fillRect/>
          </a:stretch>
        </p:blipFill>
        <p:spPr>
          <a:xfrm>
            <a:off x="130628" y="1602984"/>
            <a:ext cx="11957539" cy="5099267"/>
          </a:xfrm>
          <a:prstGeom prst="rect">
            <a:avLst/>
          </a:prstGeom>
        </p:spPr>
      </p:pic>
    </p:spTree>
    <p:extLst>
      <p:ext uri="{BB962C8B-B14F-4D97-AF65-F5344CB8AC3E}">
        <p14:creationId xmlns:p14="http://schemas.microsoft.com/office/powerpoint/2010/main" val="26710782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18000"/>
                <a:satMod val="160000"/>
                <a:lumMod val="28000"/>
              </a:schemeClr>
              <a:schemeClr val="bg2">
                <a:tint val="95000"/>
                <a:satMod val="160000"/>
                <a:lumMod val="116000"/>
              </a:schemeClr>
            </a:duotone>
          </a:blip>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1D58E7-894A-C1CE-7DEA-BE52C1814817}"/>
              </a:ext>
            </a:extLst>
          </p:cNvPr>
          <p:cNvSpPr>
            <a:spLocks noGrp="1"/>
          </p:cNvSpPr>
          <p:nvPr>
            <p:ph type="title"/>
          </p:nvPr>
        </p:nvSpPr>
        <p:spPr>
          <a:xfrm>
            <a:off x="913795" y="285142"/>
            <a:ext cx="10353761" cy="1326321"/>
          </a:xfrm>
        </p:spPr>
        <p:txBody>
          <a:bodyPr>
            <a:normAutofit/>
          </a:bodyPr>
          <a:lstStyle/>
          <a:p>
            <a:r>
              <a:rPr lang="en-US" dirty="0"/>
              <a:t>Technical Implementation</a:t>
            </a:r>
          </a:p>
        </p:txBody>
      </p:sp>
      <p:sp>
        <p:nvSpPr>
          <p:cNvPr id="4" name="Rectangle 1">
            <a:extLst>
              <a:ext uri="{FF2B5EF4-FFF2-40B4-BE49-F238E27FC236}">
                <a16:creationId xmlns:a16="http://schemas.microsoft.com/office/drawing/2014/main" id="{B296ABEF-6304-A163-6C03-ABC07185331D}"/>
              </a:ext>
            </a:extLst>
          </p:cNvPr>
          <p:cNvSpPr>
            <a:spLocks noGrp="1" noChangeArrowheads="1"/>
          </p:cNvSpPr>
          <p:nvPr>
            <p:ph idx="1"/>
          </p:nvPr>
        </p:nvSpPr>
        <p:spPr bwMode="auto">
          <a:xfrm>
            <a:off x="363794" y="1558083"/>
            <a:ext cx="5388077" cy="4770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mj-lt"/>
              </a:rPr>
              <a:t>Integrated Ticket Lifecycle:</a:t>
            </a:r>
            <a:r>
              <a:rPr kumimoji="0" lang="en-US" altLang="en-US" sz="1600" b="0" i="0" u="none" strike="noStrike" cap="none" normalizeH="0" baseline="0" dirty="0">
                <a:ln>
                  <a:noFill/>
                </a:ln>
                <a:solidFill>
                  <a:schemeClr val="tx1"/>
                </a:solidFill>
                <a:effectLst/>
                <a:latin typeface="+mj-lt"/>
              </a:rPr>
              <a:t> Developed a centralized </a:t>
            </a:r>
            <a:r>
              <a:rPr kumimoji="0" lang="en-US" altLang="en-US" sz="1600" b="0" i="0" u="none" strike="noStrike" cap="none" normalizeH="0" baseline="0" dirty="0" err="1">
                <a:ln>
                  <a:noFill/>
                </a:ln>
                <a:solidFill>
                  <a:schemeClr val="tx1"/>
                </a:solidFill>
                <a:effectLst/>
                <a:latin typeface="+mj-lt"/>
              </a:rPr>
              <a:t>api</a:t>
            </a:r>
            <a:r>
              <a:rPr kumimoji="0" lang="en-US" altLang="en-US" sz="1600" b="0" i="0" u="none" strike="noStrike" cap="none" normalizeH="0" baseline="0" dirty="0">
                <a:ln>
                  <a:noFill/>
                </a:ln>
                <a:solidFill>
                  <a:schemeClr val="tx1"/>
                </a:solidFill>
                <a:effectLst/>
                <a:latin typeface="+mj-lt"/>
              </a:rPr>
              <a:t>/</a:t>
            </a:r>
            <a:r>
              <a:rPr kumimoji="0" lang="en-US" altLang="en-US" sz="1600" b="0" i="0" u="none" strike="noStrike" cap="none" normalizeH="0" baseline="0" dirty="0" err="1">
                <a:ln>
                  <a:noFill/>
                </a:ln>
                <a:solidFill>
                  <a:schemeClr val="tx1"/>
                </a:solidFill>
                <a:effectLst/>
                <a:latin typeface="+mj-lt"/>
              </a:rPr>
              <a:t>resolve_ticket.</a:t>
            </a:r>
            <a:r>
              <a:rPr lang="en-US" altLang="en-US" sz="1600" dirty="0" err="1">
                <a:effectLst/>
                <a:latin typeface="+mj-lt"/>
              </a:rPr>
              <a:t>php</a:t>
            </a:r>
            <a:r>
              <a:rPr lang="en-US" altLang="en-US" sz="1600" dirty="0">
                <a:effectLst/>
                <a:latin typeface="+mj-lt"/>
              </a:rPr>
              <a:t> to manage </a:t>
            </a:r>
            <a:r>
              <a:rPr kumimoji="0" lang="en-US" altLang="en-US" sz="1600" i="0" u="none" strike="noStrike" cap="none" normalizeH="0" baseline="0" dirty="0">
                <a:ln>
                  <a:noFill/>
                </a:ln>
                <a:solidFill>
                  <a:schemeClr val="tx1"/>
                </a:solidFill>
                <a:effectLst/>
                <a:latin typeface="+mj-lt"/>
              </a:rPr>
              <a:t>Bidirectional State Logic. </a:t>
            </a:r>
            <a:r>
              <a:rPr kumimoji="0" lang="en-US" altLang="en-US" sz="1600" b="0" i="0" u="none" strike="noStrike" cap="none" normalizeH="0" baseline="0" dirty="0">
                <a:ln>
                  <a:noFill/>
                </a:ln>
                <a:solidFill>
                  <a:schemeClr val="tx1"/>
                </a:solidFill>
                <a:effectLst/>
                <a:latin typeface="+mj-lt"/>
              </a:rPr>
              <a:t>This allows the system to toggle tickets between 'Open' and 'Resolved' dynamically, ensuring the database accurately reflects real-time maintenance status.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600" b="0" i="0" u="none" strike="noStrike" cap="none" normalizeH="0" baseline="0" dirty="0">
              <a:ln>
                <a:noFill/>
              </a:ln>
              <a:solidFill>
                <a:schemeClr val="tx1"/>
              </a:solidFill>
              <a:effectLst/>
              <a:latin typeface="+mj-l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mj-lt"/>
              </a:rPr>
              <a:t>Contextual Data Access:</a:t>
            </a:r>
            <a:r>
              <a:rPr kumimoji="0" lang="en-US" altLang="en-US" sz="1600" b="0" i="0" u="none" strike="noStrike" cap="none" normalizeH="0" baseline="0" dirty="0">
                <a:ln>
                  <a:noFill/>
                </a:ln>
                <a:solidFill>
                  <a:schemeClr val="tx1"/>
                </a:solidFill>
                <a:effectLst/>
                <a:latin typeface="+mj-lt"/>
              </a:rPr>
              <a:t> Implemented </a:t>
            </a:r>
            <a:r>
              <a:rPr kumimoji="0" lang="en-US" altLang="en-US" sz="1600" i="0" u="none" strike="noStrike" cap="none" normalizeH="0" baseline="0" dirty="0">
                <a:ln>
                  <a:noFill/>
                </a:ln>
                <a:solidFill>
                  <a:schemeClr val="tx1"/>
                </a:solidFill>
                <a:effectLst/>
                <a:latin typeface="+mj-lt"/>
              </a:rPr>
              <a:t>Modals </a:t>
            </a:r>
            <a:r>
              <a:rPr kumimoji="0" lang="en-US" altLang="en-US" sz="1600" b="0" i="0" u="none" strike="noStrike" cap="none" normalizeH="0" baseline="0" dirty="0">
                <a:ln>
                  <a:noFill/>
                </a:ln>
                <a:solidFill>
                  <a:schemeClr val="tx1"/>
                </a:solidFill>
                <a:effectLst/>
                <a:latin typeface="+mj-lt"/>
              </a:rPr>
              <a:t>to enable ticket reviews (in case the text is too long). This allows the administrator to inspect full issue descriptions and metadata without disrupting the primary work queue or losing session state.</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600" b="0" i="0" u="none" strike="noStrike" cap="none" normalizeH="0" baseline="0" dirty="0">
              <a:ln>
                <a:noFill/>
              </a:ln>
              <a:solidFill>
                <a:schemeClr val="tx1"/>
              </a:solidFill>
              <a:effectLst/>
              <a:latin typeface="+mj-l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mj-lt"/>
              </a:rPr>
              <a:t>Database Schema Evolution:</a:t>
            </a:r>
            <a:r>
              <a:rPr kumimoji="0" lang="en-US" altLang="en-US" sz="1600" b="0" i="0" u="none" strike="noStrike" cap="none" normalizeH="0" baseline="0" dirty="0">
                <a:ln>
                  <a:noFill/>
                </a:ln>
                <a:solidFill>
                  <a:schemeClr val="tx1"/>
                </a:solidFill>
                <a:effectLst/>
                <a:latin typeface="+mj-lt"/>
              </a:rPr>
              <a:t> Executed a structured </a:t>
            </a:r>
            <a:r>
              <a:rPr kumimoji="0" lang="en-US" altLang="en-US" sz="1600" i="0" u="none" strike="noStrike" cap="none" normalizeH="0" baseline="0" dirty="0">
                <a:ln>
                  <a:noFill/>
                </a:ln>
                <a:solidFill>
                  <a:schemeClr val="tx1"/>
                </a:solidFill>
                <a:effectLst/>
                <a:latin typeface="+mj-lt"/>
              </a:rPr>
              <a:t>SQL Migration </a:t>
            </a:r>
            <a:r>
              <a:rPr kumimoji="0" lang="en-US" altLang="en-US" sz="1600" b="0" i="0" u="none" strike="noStrike" cap="none" normalizeH="0" baseline="0" dirty="0">
                <a:ln>
                  <a:noFill/>
                </a:ln>
                <a:solidFill>
                  <a:schemeClr val="tx1"/>
                </a:solidFill>
                <a:effectLst/>
                <a:latin typeface="+mj-lt"/>
              </a:rPr>
              <a:t>to implement categorical data tracking. This update bridges the gap between raw ticket entry and our </a:t>
            </a:r>
            <a:r>
              <a:rPr kumimoji="0" lang="en-US" altLang="en-US" sz="1600" i="0" u="none" strike="noStrike" cap="none" normalizeH="0" baseline="0" dirty="0">
                <a:ln>
                  <a:noFill/>
                </a:ln>
                <a:solidFill>
                  <a:schemeClr val="tx1"/>
                </a:solidFill>
                <a:effectLst/>
                <a:latin typeface="+mj-lt"/>
              </a:rPr>
              <a:t>Analytics Engine</a:t>
            </a:r>
            <a:r>
              <a:rPr kumimoji="0" lang="en-US" altLang="en-US" sz="1600" b="0" i="0" u="none" strike="noStrike" cap="none" normalizeH="0" baseline="0" dirty="0">
                <a:ln>
                  <a:noFill/>
                </a:ln>
                <a:solidFill>
                  <a:schemeClr val="tx1"/>
                </a:solidFill>
                <a:effectLst/>
                <a:latin typeface="+mj-lt"/>
              </a:rPr>
              <a:t>, allowing for the high-level reporting required for administrative oversight.</a:t>
            </a:r>
          </a:p>
        </p:txBody>
      </p:sp>
      <p:pic>
        <p:nvPicPr>
          <p:cNvPr id="6" name="Picture 5">
            <a:extLst>
              <a:ext uri="{FF2B5EF4-FFF2-40B4-BE49-F238E27FC236}">
                <a16:creationId xmlns:a16="http://schemas.microsoft.com/office/drawing/2014/main" id="{3CED86BE-EB44-36BB-020A-EAF513C269B4}"/>
              </a:ext>
            </a:extLst>
          </p:cNvPr>
          <p:cNvPicPr>
            <a:picLocks noChangeAspect="1"/>
          </p:cNvPicPr>
          <p:nvPr/>
        </p:nvPicPr>
        <p:blipFill>
          <a:blip r:embed="rId3"/>
          <a:stretch>
            <a:fillRect/>
          </a:stretch>
        </p:blipFill>
        <p:spPr>
          <a:xfrm>
            <a:off x="5637125" y="1909187"/>
            <a:ext cx="6481187" cy="3878664"/>
          </a:xfrm>
          <a:prstGeom prst="rect">
            <a:avLst/>
          </a:prstGeom>
        </p:spPr>
      </p:pic>
    </p:spTree>
    <p:extLst>
      <p:ext uri="{BB962C8B-B14F-4D97-AF65-F5344CB8AC3E}">
        <p14:creationId xmlns:p14="http://schemas.microsoft.com/office/powerpoint/2010/main" val="36086429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18000"/>
                <a:satMod val="160000"/>
                <a:lumMod val="28000"/>
              </a:schemeClr>
              <a:schemeClr val="bg2">
                <a:tint val="95000"/>
                <a:satMod val="160000"/>
                <a:lumMod val="116000"/>
              </a:schemeClr>
            </a:duotone>
          </a:blip>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AE40F0-CD4C-CFB1-A7CE-289325756AAA}"/>
              </a:ext>
            </a:extLst>
          </p:cNvPr>
          <p:cNvSpPr>
            <a:spLocks noGrp="1"/>
          </p:cNvSpPr>
          <p:nvPr>
            <p:ph type="title"/>
          </p:nvPr>
        </p:nvSpPr>
        <p:spPr>
          <a:xfrm>
            <a:off x="913795" y="609600"/>
            <a:ext cx="10353761" cy="1326321"/>
          </a:xfrm>
        </p:spPr>
        <p:txBody>
          <a:bodyPr>
            <a:normAutofit/>
          </a:bodyPr>
          <a:lstStyle/>
          <a:p>
            <a:r>
              <a:rPr lang="en-US" dirty="0"/>
              <a:t>Notification Architecture and Transactional Logging</a:t>
            </a:r>
          </a:p>
        </p:txBody>
      </p:sp>
      <p:sp>
        <p:nvSpPr>
          <p:cNvPr id="4" name="Rectangle 1">
            <a:extLst>
              <a:ext uri="{FF2B5EF4-FFF2-40B4-BE49-F238E27FC236}">
                <a16:creationId xmlns:a16="http://schemas.microsoft.com/office/drawing/2014/main" id="{1667A6BF-8536-4C43-404E-9DC0AC1E1B80}"/>
              </a:ext>
            </a:extLst>
          </p:cNvPr>
          <p:cNvSpPr>
            <a:spLocks noGrp="1" noChangeArrowheads="1"/>
          </p:cNvSpPr>
          <p:nvPr>
            <p:ph idx="1"/>
          </p:nvPr>
        </p:nvSpPr>
        <p:spPr bwMode="auto">
          <a:xfrm>
            <a:off x="361745" y="1729932"/>
            <a:ext cx="4347907" cy="50167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mj-lt"/>
              </a:rPr>
              <a:t>Real-Time Event Triggering:</a:t>
            </a:r>
            <a:r>
              <a:rPr kumimoji="0" lang="en-US" altLang="en-US" sz="1600" b="0" i="0" u="none" strike="noStrike" cap="none" normalizeH="0" baseline="0" dirty="0">
                <a:ln>
                  <a:noFill/>
                </a:ln>
                <a:solidFill>
                  <a:schemeClr val="tx1"/>
                </a:solidFill>
                <a:effectLst/>
                <a:latin typeface="+mj-lt"/>
              </a:rPr>
              <a:t> Engineered a backend trigger that captures every ticket status change. When a ticket is "Resolved" or "Re-Opened," the system instantly generates a machine-readable entry.</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600" b="0" i="0" u="none" strike="noStrike" cap="none" normalizeH="0" baseline="0" dirty="0">
              <a:ln>
                <a:noFill/>
              </a:ln>
              <a:solidFill>
                <a:schemeClr val="tx1"/>
              </a:solidFill>
              <a:effectLst/>
              <a:latin typeface="+mj-l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mj-lt"/>
              </a:rPr>
              <a:t>Audit Trail Compliance:</a:t>
            </a:r>
            <a:r>
              <a:rPr kumimoji="0" lang="en-US" altLang="en-US" sz="1600" b="0" i="0" u="none" strike="noStrike" cap="none" normalizeH="0" baseline="0" dirty="0">
                <a:ln>
                  <a:noFill/>
                </a:ln>
                <a:solidFill>
                  <a:schemeClr val="tx1"/>
                </a:solidFill>
                <a:effectLst/>
                <a:latin typeface="+mj-lt"/>
              </a:rPr>
              <a:t> Implemented </a:t>
            </a:r>
            <a:r>
              <a:rPr kumimoji="0" lang="en-US" altLang="en-US" sz="1600" b="0" i="0" u="none" strike="noStrike" cap="none" normalizeH="0" baseline="0" dirty="0" err="1">
                <a:ln>
                  <a:noFill/>
                </a:ln>
                <a:solidFill>
                  <a:schemeClr val="tx1"/>
                </a:solidFill>
                <a:effectLst/>
                <a:latin typeface="+mj-lt"/>
              </a:rPr>
              <a:t>api</a:t>
            </a:r>
            <a:r>
              <a:rPr kumimoji="0" lang="en-US" altLang="en-US" sz="1600" b="0" i="0" u="none" strike="noStrike" cap="none" normalizeH="0" baseline="0" dirty="0">
                <a:ln>
                  <a:noFill/>
                </a:ln>
                <a:solidFill>
                  <a:schemeClr val="tx1"/>
                </a:solidFill>
                <a:effectLst/>
                <a:latin typeface="+mj-lt"/>
              </a:rPr>
              <a:t>/notifications.log as a centralized </a:t>
            </a:r>
            <a:r>
              <a:rPr kumimoji="0" lang="en-US" altLang="en-US" sz="1600" b="1" i="0" u="none" strike="noStrike" cap="none" normalizeH="0" baseline="0" dirty="0">
                <a:ln>
                  <a:noFill/>
                </a:ln>
                <a:solidFill>
                  <a:schemeClr val="tx1"/>
                </a:solidFill>
                <a:effectLst/>
                <a:latin typeface="+mj-lt"/>
              </a:rPr>
              <a:t>System Audit Trail</a:t>
            </a:r>
            <a:r>
              <a:rPr kumimoji="0" lang="en-US" altLang="en-US" sz="1600" b="0" i="0" u="none" strike="noStrike" cap="none" normalizeH="0" baseline="0" dirty="0">
                <a:ln>
                  <a:noFill/>
                </a:ln>
                <a:solidFill>
                  <a:schemeClr val="tx1"/>
                </a:solidFill>
                <a:effectLst/>
                <a:latin typeface="+mj-lt"/>
              </a:rPr>
              <a:t>. This provides a permanent record of administrative actions, timestamps, and ticket IDs for accountability and performance tracking.</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600" b="0" i="0" u="none" strike="noStrike" cap="none" normalizeH="0" baseline="0" dirty="0">
              <a:ln>
                <a:noFill/>
              </a:ln>
              <a:solidFill>
                <a:schemeClr val="tx1"/>
              </a:solidFill>
              <a:effectLst/>
              <a:latin typeface="+mj-l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mj-lt"/>
              </a:rPr>
              <a:t>Extensible Middleware:</a:t>
            </a:r>
            <a:r>
              <a:rPr kumimoji="0" lang="en-US" altLang="en-US" sz="1600" b="0" i="0" u="none" strike="noStrike" cap="none" normalizeH="0" baseline="0" dirty="0">
                <a:ln>
                  <a:noFill/>
                </a:ln>
                <a:solidFill>
                  <a:schemeClr val="tx1"/>
                </a:solidFill>
                <a:effectLst/>
                <a:latin typeface="+mj-lt"/>
              </a:rPr>
              <a:t> The logging architecture serves as the </a:t>
            </a:r>
            <a:r>
              <a:rPr kumimoji="0" lang="en-US" altLang="en-US" sz="1600" i="0" u="none" strike="noStrike" cap="none" normalizeH="0" baseline="0" dirty="0">
                <a:ln>
                  <a:noFill/>
                </a:ln>
                <a:solidFill>
                  <a:schemeClr val="tx1"/>
                </a:solidFill>
                <a:effectLst/>
                <a:latin typeface="+mj-lt"/>
              </a:rPr>
              <a:t>Middleware </a:t>
            </a:r>
            <a:r>
              <a:rPr kumimoji="0" lang="en-US" altLang="en-US" sz="1600" b="0" i="0" u="none" strike="noStrike" cap="none" normalizeH="0" baseline="0" dirty="0">
                <a:ln>
                  <a:noFill/>
                </a:ln>
                <a:solidFill>
                  <a:schemeClr val="tx1"/>
                </a:solidFill>
                <a:effectLst/>
                <a:latin typeface="+mj-lt"/>
              </a:rPr>
              <a:t>layer, designed to push data to external services (like Email, SMS, or Hardware controllers) without modifying the core Dashboard code.</a:t>
            </a:r>
          </a:p>
        </p:txBody>
      </p:sp>
      <p:pic>
        <p:nvPicPr>
          <p:cNvPr id="6" name="Picture 5">
            <a:extLst>
              <a:ext uri="{FF2B5EF4-FFF2-40B4-BE49-F238E27FC236}">
                <a16:creationId xmlns:a16="http://schemas.microsoft.com/office/drawing/2014/main" id="{9B42C004-36FA-3118-4FEA-7068BADF5B04}"/>
              </a:ext>
            </a:extLst>
          </p:cNvPr>
          <p:cNvPicPr>
            <a:picLocks noChangeAspect="1"/>
          </p:cNvPicPr>
          <p:nvPr/>
        </p:nvPicPr>
        <p:blipFill>
          <a:blip r:embed="rId3"/>
          <a:stretch>
            <a:fillRect/>
          </a:stretch>
        </p:blipFill>
        <p:spPr>
          <a:xfrm>
            <a:off x="4532670" y="2209629"/>
            <a:ext cx="7620000" cy="2559015"/>
          </a:xfrm>
          <a:prstGeom prst="rect">
            <a:avLst/>
          </a:prstGeom>
        </p:spPr>
      </p:pic>
    </p:spTree>
    <p:extLst>
      <p:ext uri="{BB962C8B-B14F-4D97-AF65-F5344CB8AC3E}">
        <p14:creationId xmlns:p14="http://schemas.microsoft.com/office/powerpoint/2010/main" val="35329159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18000"/>
                <a:satMod val="160000"/>
                <a:lumMod val="28000"/>
              </a:schemeClr>
              <a:schemeClr val="bg2">
                <a:tint val="95000"/>
                <a:satMod val="160000"/>
                <a:lumMod val="116000"/>
              </a:schemeClr>
            </a:duotone>
          </a:blip>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D02FF5-B020-339F-6697-E1ECE0BF582C}"/>
              </a:ext>
            </a:extLst>
          </p:cNvPr>
          <p:cNvSpPr>
            <a:spLocks noGrp="1"/>
          </p:cNvSpPr>
          <p:nvPr>
            <p:ph type="title"/>
          </p:nvPr>
        </p:nvSpPr>
        <p:spPr>
          <a:xfrm>
            <a:off x="913795" y="609600"/>
            <a:ext cx="10353761" cy="1326321"/>
          </a:xfrm>
        </p:spPr>
        <p:txBody>
          <a:bodyPr>
            <a:normAutofit/>
          </a:bodyPr>
          <a:lstStyle/>
          <a:p>
            <a:r>
              <a:rPr lang="en-US" dirty="0"/>
              <a:t>Testing - Unit &amp; Functional</a:t>
            </a:r>
          </a:p>
        </p:txBody>
      </p:sp>
      <p:sp>
        <p:nvSpPr>
          <p:cNvPr id="4" name="Rectangle 1">
            <a:extLst>
              <a:ext uri="{FF2B5EF4-FFF2-40B4-BE49-F238E27FC236}">
                <a16:creationId xmlns:a16="http://schemas.microsoft.com/office/drawing/2014/main" id="{D02B9E96-CDA2-60CF-AFA8-10B30090D40B}"/>
              </a:ext>
            </a:extLst>
          </p:cNvPr>
          <p:cNvSpPr>
            <a:spLocks noGrp="1" noChangeArrowheads="1"/>
          </p:cNvSpPr>
          <p:nvPr>
            <p:ph idx="1"/>
          </p:nvPr>
        </p:nvSpPr>
        <p:spPr bwMode="auto">
          <a:xfrm>
            <a:off x="825911" y="2533363"/>
            <a:ext cx="4119717" cy="3046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mj-lt"/>
              </a:rPr>
              <a:t>Unit Testing:</a:t>
            </a:r>
            <a:r>
              <a:rPr kumimoji="0" lang="en-US" altLang="en-US" sz="1600" b="0" i="0" u="none" strike="noStrike" cap="none" normalizeH="0" baseline="0" dirty="0">
                <a:ln>
                  <a:noFill/>
                </a:ln>
                <a:solidFill>
                  <a:schemeClr val="tx1"/>
                </a:solidFill>
                <a:effectLst/>
                <a:latin typeface="+mj-lt"/>
              </a:rPr>
              <a:t> Verified individual script stability (Auth checks, DB handshakes, JSON formatting).</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600" b="0" i="0" u="none" strike="noStrike" cap="none" normalizeH="0" baseline="0" dirty="0">
              <a:ln>
                <a:noFill/>
              </a:ln>
              <a:solidFill>
                <a:schemeClr val="tx1"/>
              </a:solidFill>
              <a:effectLst/>
              <a:latin typeface="+mj-l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mj-lt"/>
              </a:rPr>
              <a:t>Functional Testing:</a:t>
            </a:r>
            <a:r>
              <a:rPr kumimoji="0" lang="en-US" altLang="en-US" sz="1600" b="0" i="0" u="none" strike="noStrike" cap="none" normalizeH="0" baseline="0" dirty="0">
                <a:ln>
                  <a:noFill/>
                </a:ln>
                <a:solidFill>
                  <a:schemeClr val="tx1"/>
                </a:solidFill>
                <a:effectLst/>
                <a:latin typeface="+mj-lt"/>
              </a:rPr>
              <a:t> Validated end-to-end "User Stories" (e.g., Administrator finds, filters, and resolves a ticket)..</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600" b="0" i="0" u="none" strike="noStrike" cap="none" normalizeH="0" baseline="0" dirty="0">
              <a:ln>
                <a:noFill/>
              </a:ln>
              <a:solidFill>
                <a:schemeClr val="tx1"/>
              </a:solidFill>
              <a:effectLst/>
              <a:latin typeface="+mj-l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mj-lt"/>
              </a:rPr>
              <a:t>Security Validation:</a:t>
            </a:r>
            <a:r>
              <a:rPr kumimoji="0" lang="en-US" altLang="en-US" sz="1600" b="0" i="0" u="none" strike="noStrike" cap="none" normalizeH="0" baseline="0" dirty="0">
                <a:ln>
                  <a:noFill/>
                </a:ln>
                <a:solidFill>
                  <a:schemeClr val="tx1"/>
                </a:solidFill>
                <a:effectLst/>
                <a:latin typeface="+mj-lt"/>
              </a:rPr>
              <a:t> Confirmed data sanitization to prevent common SQL injection vulnerabilities.</a:t>
            </a:r>
          </a:p>
        </p:txBody>
      </p:sp>
      <p:graphicFrame>
        <p:nvGraphicFramePr>
          <p:cNvPr id="6" name="Table 5">
            <a:extLst>
              <a:ext uri="{FF2B5EF4-FFF2-40B4-BE49-F238E27FC236}">
                <a16:creationId xmlns:a16="http://schemas.microsoft.com/office/drawing/2014/main" id="{0D389D08-32FD-402C-0B30-B7D866D66979}"/>
              </a:ext>
            </a:extLst>
          </p:cNvPr>
          <p:cNvGraphicFramePr>
            <a:graphicFrameLocks noGrp="1"/>
          </p:cNvGraphicFramePr>
          <p:nvPr>
            <p:extLst>
              <p:ext uri="{D42A27DB-BD31-4B8C-83A1-F6EECF244321}">
                <p14:modId xmlns:p14="http://schemas.microsoft.com/office/powerpoint/2010/main" val="2333637031"/>
              </p:ext>
            </p:extLst>
          </p:nvPr>
        </p:nvGraphicFramePr>
        <p:xfrm>
          <a:off x="5515897" y="2378138"/>
          <a:ext cx="6453351" cy="3340039"/>
        </p:xfrm>
        <a:graphic>
          <a:graphicData uri="http://schemas.openxmlformats.org/drawingml/2006/table">
            <a:tbl>
              <a:tblPr firstRow="1" firstCol="1" bandRow="1">
                <a:tableStyleId>{5C22544A-7EE6-4342-B048-85BDC9FD1C3A}</a:tableStyleId>
              </a:tblPr>
              <a:tblGrid>
                <a:gridCol w="819807">
                  <a:extLst>
                    <a:ext uri="{9D8B030D-6E8A-4147-A177-3AD203B41FA5}">
                      <a16:colId xmlns:a16="http://schemas.microsoft.com/office/drawing/2014/main" val="3943838493"/>
                    </a:ext>
                  </a:extLst>
                </a:gridCol>
                <a:gridCol w="2159367">
                  <a:extLst>
                    <a:ext uri="{9D8B030D-6E8A-4147-A177-3AD203B41FA5}">
                      <a16:colId xmlns:a16="http://schemas.microsoft.com/office/drawing/2014/main" val="1174685329"/>
                    </a:ext>
                  </a:extLst>
                </a:gridCol>
                <a:gridCol w="2487561">
                  <a:extLst>
                    <a:ext uri="{9D8B030D-6E8A-4147-A177-3AD203B41FA5}">
                      <a16:colId xmlns:a16="http://schemas.microsoft.com/office/drawing/2014/main" val="2093330676"/>
                    </a:ext>
                  </a:extLst>
                </a:gridCol>
                <a:gridCol w="986616">
                  <a:extLst>
                    <a:ext uri="{9D8B030D-6E8A-4147-A177-3AD203B41FA5}">
                      <a16:colId xmlns:a16="http://schemas.microsoft.com/office/drawing/2014/main" val="3469294860"/>
                    </a:ext>
                  </a:extLst>
                </a:gridCol>
              </a:tblGrid>
              <a:tr h="472470">
                <a:tc>
                  <a:txBody>
                    <a:bodyPr/>
                    <a:lstStyle/>
                    <a:p>
                      <a:pPr marL="0" marR="0">
                        <a:lnSpc>
                          <a:spcPct val="115000"/>
                        </a:lnSpc>
                        <a:spcAft>
                          <a:spcPts val="800"/>
                        </a:spcAft>
                        <a:buNone/>
                      </a:pPr>
                      <a:r>
                        <a:rPr lang="en-US" sz="1200" kern="100">
                          <a:solidFill>
                            <a:schemeClr val="tx1"/>
                          </a:solidFill>
                          <a:effectLst/>
                          <a:latin typeface="+mj-lt"/>
                        </a:rPr>
                        <a:t>Test ID</a:t>
                      </a:r>
                      <a:endParaRPr lang="en-US" sz="1200" kern="100">
                        <a:solidFill>
                          <a:schemeClr val="tx1"/>
                        </a:solidFill>
                        <a:effectLst/>
                        <a:latin typeface="+mj-lt"/>
                        <a:ea typeface="Aptos" panose="020B0004020202020204" pitchFamily="34" charset="0"/>
                        <a:cs typeface="Times New Roman" panose="02020603050405020304" pitchFamily="18" charset="0"/>
                      </a:endParaRPr>
                    </a:p>
                  </a:txBody>
                  <a:tcPr marL="0" marR="114300" marT="152400" marB="152400" anchor="ctr">
                    <a:noFill/>
                  </a:tcPr>
                </a:tc>
                <a:tc>
                  <a:txBody>
                    <a:bodyPr/>
                    <a:lstStyle/>
                    <a:p>
                      <a:pPr marL="0" marR="0">
                        <a:lnSpc>
                          <a:spcPct val="115000"/>
                        </a:lnSpc>
                        <a:spcAft>
                          <a:spcPts val="800"/>
                        </a:spcAft>
                        <a:buNone/>
                      </a:pPr>
                      <a:r>
                        <a:rPr lang="en-US" sz="1200" kern="100">
                          <a:solidFill>
                            <a:schemeClr val="tx1"/>
                          </a:solidFill>
                          <a:effectLst/>
                          <a:latin typeface="+mj-lt"/>
                        </a:rPr>
                        <a:t>Component</a:t>
                      </a:r>
                      <a:endParaRPr lang="en-US" sz="1200" kern="100">
                        <a:solidFill>
                          <a:schemeClr val="tx1"/>
                        </a:solidFill>
                        <a:effectLst/>
                        <a:latin typeface="+mj-lt"/>
                        <a:ea typeface="Aptos" panose="020B0004020202020204" pitchFamily="34" charset="0"/>
                        <a:cs typeface="Times New Roman" panose="02020603050405020304" pitchFamily="18" charset="0"/>
                      </a:endParaRPr>
                    </a:p>
                  </a:txBody>
                  <a:tcPr marL="0" marR="114300" marT="152400" marB="152400" anchor="ctr">
                    <a:noFill/>
                  </a:tcPr>
                </a:tc>
                <a:tc>
                  <a:txBody>
                    <a:bodyPr/>
                    <a:lstStyle/>
                    <a:p>
                      <a:pPr marL="0" marR="0">
                        <a:lnSpc>
                          <a:spcPct val="115000"/>
                        </a:lnSpc>
                        <a:spcAft>
                          <a:spcPts val="800"/>
                        </a:spcAft>
                        <a:buNone/>
                      </a:pPr>
                      <a:r>
                        <a:rPr lang="en-US" sz="1200" kern="100">
                          <a:solidFill>
                            <a:schemeClr val="tx1"/>
                          </a:solidFill>
                          <a:effectLst/>
                          <a:latin typeface="+mj-lt"/>
                        </a:rPr>
                        <a:t>Expected Result</a:t>
                      </a:r>
                      <a:endParaRPr lang="en-US" sz="1200" kern="100">
                        <a:solidFill>
                          <a:schemeClr val="tx1"/>
                        </a:solidFill>
                        <a:effectLst/>
                        <a:latin typeface="+mj-lt"/>
                        <a:ea typeface="Aptos" panose="020B0004020202020204" pitchFamily="34" charset="0"/>
                        <a:cs typeface="Times New Roman" panose="02020603050405020304" pitchFamily="18" charset="0"/>
                      </a:endParaRPr>
                    </a:p>
                  </a:txBody>
                  <a:tcPr marL="0" marR="114300" marT="152400" marB="152400" anchor="ctr">
                    <a:noFill/>
                  </a:tcPr>
                </a:tc>
                <a:tc>
                  <a:txBody>
                    <a:bodyPr/>
                    <a:lstStyle/>
                    <a:p>
                      <a:pPr marL="0" marR="0">
                        <a:lnSpc>
                          <a:spcPct val="115000"/>
                        </a:lnSpc>
                        <a:spcAft>
                          <a:spcPts val="800"/>
                        </a:spcAft>
                        <a:buNone/>
                      </a:pPr>
                      <a:r>
                        <a:rPr lang="en-US" sz="1200" kern="100">
                          <a:solidFill>
                            <a:schemeClr val="tx1"/>
                          </a:solidFill>
                          <a:effectLst/>
                          <a:latin typeface="+mj-lt"/>
                        </a:rPr>
                        <a:t>Status</a:t>
                      </a:r>
                      <a:endParaRPr lang="en-US" sz="1200" kern="100">
                        <a:solidFill>
                          <a:schemeClr val="tx1"/>
                        </a:solidFill>
                        <a:effectLst/>
                        <a:latin typeface="+mj-lt"/>
                        <a:ea typeface="Aptos" panose="020B0004020202020204" pitchFamily="34" charset="0"/>
                        <a:cs typeface="Times New Roman" panose="02020603050405020304" pitchFamily="18" charset="0"/>
                      </a:endParaRPr>
                    </a:p>
                  </a:txBody>
                  <a:tcPr marL="0" marR="0" marT="152400" marB="152400" anchor="ctr">
                    <a:noFill/>
                  </a:tcPr>
                </a:tc>
                <a:extLst>
                  <a:ext uri="{0D108BD9-81ED-4DB2-BD59-A6C34878D82A}">
                    <a16:rowId xmlns:a16="http://schemas.microsoft.com/office/drawing/2014/main" val="1651037190"/>
                  </a:ext>
                </a:extLst>
              </a:tr>
              <a:tr h="472470">
                <a:tc>
                  <a:txBody>
                    <a:bodyPr/>
                    <a:lstStyle/>
                    <a:p>
                      <a:pPr marL="0" marR="0">
                        <a:lnSpc>
                          <a:spcPct val="115000"/>
                        </a:lnSpc>
                        <a:spcAft>
                          <a:spcPts val="800"/>
                        </a:spcAft>
                        <a:buNone/>
                      </a:pPr>
                      <a:r>
                        <a:rPr lang="en-US" sz="1200" kern="100">
                          <a:solidFill>
                            <a:schemeClr val="tx1"/>
                          </a:solidFill>
                          <a:effectLst/>
                          <a:latin typeface="+mj-lt"/>
                        </a:rPr>
                        <a:t>UT-01</a:t>
                      </a:r>
                      <a:endParaRPr lang="en-US" sz="1200" kern="100">
                        <a:solidFill>
                          <a:schemeClr val="tx1"/>
                        </a:solidFill>
                        <a:effectLst/>
                        <a:latin typeface="+mj-lt"/>
                        <a:ea typeface="Aptos" panose="020B0004020202020204" pitchFamily="34" charset="0"/>
                        <a:cs typeface="Times New Roman" panose="02020603050405020304" pitchFamily="18" charset="0"/>
                      </a:endParaRPr>
                    </a:p>
                  </a:txBody>
                  <a:tcPr marL="0" marR="114300" marT="152400" marB="152400" anchor="ctr">
                    <a:noFill/>
                  </a:tcPr>
                </a:tc>
                <a:tc>
                  <a:txBody>
                    <a:bodyPr/>
                    <a:lstStyle/>
                    <a:p>
                      <a:pPr marL="0" marR="0">
                        <a:lnSpc>
                          <a:spcPct val="115000"/>
                        </a:lnSpc>
                        <a:spcAft>
                          <a:spcPts val="800"/>
                        </a:spcAft>
                        <a:buNone/>
                      </a:pPr>
                      <a:r>
                        <a:rPr lang="en-US" sz="1200" kern="100" dirty="0" err="1">
                          <a:solidFill>
                            <a:schemeClr val="tx1"/>
                          </a:solidFill>
                          <a:effectLst/>
                          <a:latin typeface="+mj-lt"/>
                        </a:rPr>
                        <a:t>resolve_ticket.php</a:t>
                      </a:r>
                      <a:endParaRPr lang="en-US" sz="1200" kern="100" dirty="0">
                        <a:solidFill>
                          <a:schemeClr val="tx1"/>
                        </a:solidFill>
                        <a:effectLst/>
                        <a:latin typeface="+mj-lt"/>
                        <a:ea typeface="Aptos" panose="020B0004020202020204" pitchFamily="34" charset="0"/>
                        <a:cs typeface="Times New Roman" panose="02020603050405020304" pitchFamily="18" charset="0"/>
                      </a:endParaRPr>
                    </a:p>
                  </a:txBody>
                  <a:tcPr marL="0" marR="114300" marT="152400" marB="152400" anchor="ctr">
                    <a:noFill/>
                  </a:tcPr>
                </a:tc>
                <a:tc>
                  <a:txBody>
                    <a:bodyPr/>
                    <a:lstStyle/>
                    <a:p>
                      <a:pPr marL="0" marR="0">
                        <a:lnSpc>
                          <a:spcPct val="115000"/>
                        </a:lnSpc>
                        <a:spcAft>
                          <a:spcPts val="800"/>
                        </a:spcAft>
                        <a:buNone/>
                      </a:pPr>
                      <a:r>
                        <a:rPr lang="en-US" sz="1200" kern="100">
                          <a:solidFill>
                            <a:schemeClr val="tx1"/>
                          </a:solidFill>
                          <a:effectLst/>
                          <a:latin typeface="+mj-lt"/>
                        </a:rPr>
                        <a:t>DB updates status &amp; returns JSON success</a:t>
                      </a:r>
                      <a:endParaRPr lang="en-US" sz="1200" kern="100">
                        <a:solidFill>
                          <a:schemeClr val="tx1"/>
                        </a:solidFill>
                        <a:effectLst/>
                        <a:latin typeface="+mj-lt"/>
                        <a:ea typeface="Aptos" panose="020B0004020202020204" pitchFamily="34" charset="0"/>
                        <a:cs typeface="Times New Roman" panose="02020603050405020304" pitchFamily="18" charset="0"/>
                      </a:endParaRPr>
                    </a:p>
                  </a:txBody>
                  <a:tcPr marL="0" marR="114300" marT="152400" marB="152400" anchor="ctr">
                    <a:noFill/>
                  </a:tcPr>
                </a:tc>
                <a:tc>
                  <a:txBody>
                    <a:bodyPr/>
                    <a:lstStyle/>
                    <a:p>
                      <a:pPr marL="0" marR="0">
                        <a:lnSpc>
                          <a:spcPct val="115000"/>
                        </a:lnSpc>
                        <a:spcAft>
                          <a:spcPts val="800"/>
                        </a:spcAft>
                        <a:buNone/>
                      </a:pPr>
                      <a:r>
                        <a:rPr lang="en-US" sz="1200" kern="100">
                          <a:solidFill>
                            <a:schemeClr val="tx1"/>
                          </a:solidFill>
                          <a:effectLst/>
                          <a:latin typeface="+mj-lt"/>
                        </a:rPr>
                        <a:t>PASS</a:t>
                      </a:r>
                      <a:endParaRPr lang="en-US" sz="1200" kern="100">
                        <a:solidFill>
                          <a:schemeClr val="tx1"/>
                        </a:solidFill>
                        <a:effectLst/>
                        <a:latin typeface="+mj-lt"/>
                        <a:ea typeface="Aptos" panose="020B0004020202020204" pitchFamily="34" charset="0"/>
                        <a:cs typeface="Times New Roman" panose="02020603050405020304" pitchFamily="18" charset="0"/>
                      </a:endParaRPr>
                    </a:p>
                  </a:txBody>
                  <a:tcPr marL="0" marR="0" marT="152400" marB="152400" anchor="ctr">
                    <a:noFill/>
                  </a:tcPr>
                </a:tc>
                <a:extLst>
                  <a:ext uri="{0D108BD9-81ED-4DB2-BD59-A6C34878D82A}">
                    <a16:rowId xmlns:a16="http://schemas.microsoft.com/office/drawing/2014/main" val="167655658"/>
                  </a:ext>
                </a:extLst>
              </a:tr>
              <a:tr h="472470">
                <a:tc>
                  <a:txBody>
                    <a:bodyPr/>
                    <a:lstStyle/>
                    <a:p>
                      <a:pPr marL="0" marR="0">
                        <a:lnSpc>
                          <a:spcPct val="115000"/>
                        </a:lnSpc>
                        <a:spcAft>
                          <a:spcPts val="800"/>
                        </a:spcAft>
                        <a:buNone/>
                      </a:pPr>
                      <a:r>
                        <a:rPr lang="en-US" sz="1200" kern="100">
                          <a:solidFill>
                            <a:schemeClr val="tx1"/>
                          </a:solidFill>
                          <a:effectLst/>
                          <a:latin typeface="+mj-lt"/>
                        </a:rPr>
                        <a:t>UT-02</a:t>
                      </a:r>
                      <a:endParaRPr lang="en-US" sz="1200" kern="100">
                        <a:solidFill>
                          <a:schemeClr val="tx1"/>
                        </a:solidFill>
                        <a:effectLst/>
                        <a:latin typeface="+mj-lt"/>
                        <a:ea typeface="Aptos" panose="020B0004020202020204" pitchFamily="34" charset="0"/>
                        <a:cs typeface="Times New Roman" panose="02020603050405020304" pitchFamily="18" charset="0"/>
                      </a:endParaRPr>
                    </a:p>
                  </a:txBody>
                  <a:tcPr marL="0" marR="114300" marT="152400" marB="152400" anchor="ctr">
                    <a:noFill/>
                  </a:tcPr>
                </a:tc>
                <a:tc>
                  <a:txBody>
                    <a:bodyPr/>
                    <a:lstStyle/>
                    <a:p>
                      <a:pPr marL="0" marR="0">
                        <a:lnSpc>
                          <a:spcPct val="115000"/>
                        </a:lnSpc>
                        <a:spcAft>
                          <a:spcPts val="800"/>
                        </a:spcAft>
                        <a:buNone/>
                      </a:pPr>
                      <a:r>
                        <a:rPr lang="en-US" sz="1200" kern="100">
                          <a:solidFill>
                            <a:schemeClr val="tx1"/>
                          </a:solidFill>
                          <a:effectLst/>
                          <a:latin typeface="+mj-lt"/>
                        </a:rPr>
                        <a:t>Chart.js Data</a:t>
                      </a:r>
                      <a:endParaRPr lang="en-US" sz="1200" kern="100">
                        <a:solidFill>
                          <a:schemeClr val="tx1"/>
                        </a:solidFill>
                        <a:effectLst/>
                        <a:latin typeface="+mj-lt"/>
                        <a:ea typeface="Aptos" panose="020B0004020202020204" pitchFamily="34" charset="0"/>
                        <a:cs typeface="Times New Roman" panose="02020603050405020304" pitchFamily="18" charset="0"/>
                      </a:endParaRPr>
                    </a:p>
                  </a:txBody>
                  <a:tcPr marL="0" marR="114300" marT="152400" marB="152400" anchor="ctr">
                    <a:noFill/>
                  </a:tcPr>
                </a:tc>
                <a:tc>
                  <a:txBody>
                    <a:bodyPr/>
                    <a:lstStyle/>
                    <a:p>
                      <a:pPr marL="0" marR="0">
                        <a:lnSpc>
                          <a:spcPct val="115000"/>
                        </a:lnSpc>
                        <a:spcAft>
                          <a:spcPts val="800"/>
                        </a:spcAft>
                        <a:buNone/>
                      </a:pPr>
                      <a:r>
                        <a:rPr lang="en-US" sz="1200" kern="100" dirty="0">
                          <a:solidFill>
                            <a:schemeClr val="tx1"/>
                          </a:solidFill>
                          <a:effectLst/>
                          <a:latin typeface="+mj-lt"/>
                        </a:rPr>
                        <a:t>Handles NULL categories as "Unassigned"</a:t>
                      </a:r>
                      <a:endParaRPr lang="en-US" sz="1200" kern="100" dirty="0">
                        <a:solidFill>
                          <a:schemeClr val="tx1"/>
                        </a:solidFill>
                        <a:effectLst/>
                        <a:latin typeface="+mj-lt"/>
                        <a:ea typeface="Aptos" panose="020B0004020202020204" pitchFamily="34" charset="0"/>
                        <a:cs typeface="Times New Roman" panose="02020603050405020304" pitchFamily="18" charset="0"/>
                      </a:endParaRPr>
                    </a:p>
                  </a:txBody>
                  <a:tcPr marL="0" marR="114300" marT="152400" marB="152400" anchor="ctr">
                    <a:noFill/>
                  </a:tcPr>
                </a:tc>
                <a:tc>
                  <a:txBody>
                    <a:bodyPr/>
                    <a:lstStyle/>
                    <a:p>
                      <a:pPr marL="0" marR="0">
                        <a:lnSpc>
                          <a:spcPct val="115000"/>
                        </a:lnSpc>
                        <a:spcAft>
                          <a:spcPts val="800"/>
                        </a:spcAft>
                        <a:buNone/>
                      </a:pPr>
                      <a:r>
                        <a:rPr lang="en-US" sz="1200" kern="100">
                          <a:solidFill>
                            <a:schemeClr val="tx1"/>
                          </a:solidFill>
                          <a:effectLst/>
                          <a:latin typeface="+mj-lt"/>
                        </a:rPr>
                        <a:t>PASS</a:t>
                      </a:r>
                      <a:endParaRPr lang="en-US" sz="1200" kern="100">
                        <a:solidFill>
                          <a:schemeClr val="tx1"/>
                        </a:solidFill>
                        <a:effectLst/>
                        <a:latin typeface="+mj-lt"/>
                        <a:ea typeface="Aptos" panose="020B0004020202020204" pitchFamily="34" charset="0"/>
                        <a:cs typeface="Times New Roman" panose="02020603050405020304" pitchFamily="18" charset="0"/>
                      </a:endParaRPr>
                    </a:p>
                  </a:txBody>
                  <a:tcPr marL="0" marR="0" marT="152400" marB="152400" anchor="ctr">
                    <a:noFill/>
                  </a:tcPr>
                </a:tc>
                <a:extLst>
                  <a:ext uri="{0D108BD9-81ED-4DB2-BD59-A6C34878D82A}">
                    <a16:rowId xmlns:a16="http://schemas.microsoft.com/office/drawing/2014/main" val="1763936400"/>
                  </a:ext>
                </a:extLst>
              </a:tr>
              <a:tr h="472470">
                <a:tc>
                  <a:txBody>
                    <a:bodyPr/>
                    <a:lstStyle/>
                    <a:p>
                      <a:pPr marL="0" marR="0">
                        <a:lnSpc>
                          <a:spcPct val="115000"/>
                        </a:lnSpc>
                        <a:spcAft>
                          <a:spcPts val="800"/>
                        </a:spcAft>
                        <a:buNone/>
                      </a:pPr>
                      <a:r>
                        <a:rPr lang="en-US" sz="1200" kern="100">
                          <a:solidFill>
                            <a:schemeClr val="tx1"/>
                          </a:solidFill>
                          <a:effectLst/>
                          <a:latin typeface="+mj-lt"/>
                        </a:rPr>
                        <a:t>FT-01</a:t>
                      </a:r>
                      <a:endParaRPr lang="en-US" sz="1200" kern="100">
                        <a:solidFill>
                          <a:schemeClr val="tx1"/>
                        </a:solidFill>
                        <a:effectLst/>
                        <a:latin typeface="+mj-lt"/>
                        <a:ea typeface="Aptos" panose="020B0004020202020204" pitchFamily="34" charset="0"/>
                        <a:cs typeface="Times New Roman" panose="02020603050405020304" pitchFamily="18" charset="0"/>
                      </a:endParaRPr>
                    </a:p>
                  </a:txBody>
                  <a:tcPr marL="0" marR="114300" marT="152400" marB="152400" anchor="ctr">
                    <a:noFill/>
                  </a:tcPr>
                </a:tc>
                <a:tc>
                  <a:txBody>
                    <a:bodyPr/>
                    <a:lstStyle/>
                    <a:p>
                      <a:pPr marL="0" marR="0">
                        <a:lnSpc>
                          <a:spcPct val="115000"/>
                        </a:lnSpc>
                        <a:spcAft>
                          <a:spcPts val="800"/>
                        </a:spcAft>
                        <a:buNone/>
                      </a:pPr>
                      <a:r>
                        <a:rPr lang="en-US" sz="1200" kern="100">
                          <a:solidFill>
                            <a:schemeClr val="tx1"/>
                          </a:solidFill>
                          <a:effectLst/>
                          <a:latin typeface="+mj-lt"/>
                        </a:rPr>
                        <a:t>Lifecycle Loop</a:t>
                      </a:r>
                      <a:endParaRPr lang="en-US" sz="1200" kern="100">
                        <a:solidFill>
                          <a:schemeClr val="tx1"/>
                        </a:solidFill>
                        <a:effectLst/>
                        <a:latin typeface="+mj-lt"/>
                        <a:ea typeface="Aptos" panose="020B0004020202020204" pitchFamily="34" charset="0"/>
                        <a:cs typeface="Times New Roman" panose="02020603050405020304" pitchFamily="18" charset="0"/>
                      </a:endParaRPr>
                    </a:p>
                  </a:txBody>
                  <a:tcPr marL="0" marR="114300" marT="152400" marB="152400" anchor="ctr">
                    <a:noFill/>
                  </a:tcPr>
                </a:tc>
                <a:tc>
                  <a:txBody>
                    <a:bodyPr/>
                    <a:lstStyle/>
                    <a:p>
                      <a:pPr marL="0" marR="0">
                        <a:lnSpc>
                          <a:spcPct val="115000"/>
                        </a:lnSpc>
                        <a:spcAft>
                          <a:spcPts val="800"/>
                        </a:spcAft>
                        <a:buNone/>
                      </a:pPr>
                      <a:r>
                        <a:rPr lang="en-US" sz="1200" kern="100">
                          <a:solidFill>
                            <a:schemeClr val="tx1"/>
                          </a:solidFill>
                          <a:effectLst/>
                          <a:latin typeface="+mj-lt"/>
                        </a:rPr>
                        <a:t>Ticket moves Open → Resolved → Open</a:t>
                      </a:r>
                      <a:endParaRPr lang="en-US" sz="1200" kern="100">
                        <a:solidFill>
                          <a:schemeClr val="tx1"/>
                        </a:solidFill>
                        <a:effectLst/>
                        <a:latin typeface="+mj-lt"/>
                        <a:ea typeface="Aptos" panose="020B0004020202020204" pitchFamily="34" charset="0"/>
                        <a:cs typeface="Times New Roman" panose="02020603050405020304" pitchFamily="18" charset="0"/>
                      </a:endParaRPr>
                    </a:p>
                  </a:txBody>
                  <a:tcPr marL="0" marR="114300" marT="152400" marB="152400" anchor="ctr">
                    <a:noFill/>
                  </a:tcPr>
                </a:tc>
                <a:tc>
                  <a:txBody>
                    <a:bodyPr/>
                    <a:lstStyle/>
                    <a:p>
                      <a:pPr marL="0" marR="0">
                        <a:lnSpc>
                          <a:spcPct val="115000"/>
                        </a:lnSpc>
                        <a:spcAft>
                          <a:spcPts val="800"/>
                        </a:spcAft>
                        <a:buNone/>
                      </a:pPr>
                      <a:r>
                        <a:rPr lang="en-US" sz="1200" kern="100">
                          <a:solidFill>
                            <a:schemeClr val="tx1"/>
                          </a:solidFill>
                          <a:effectLst/>
                          <a:latin typeface="+mj-lt"/>
                        </a:rPr>
                        <a:t>PASS</a:t>
                      </a:r>
                      <a:endParaRPr lang="en-US" sz="1200" kern="100">
                        <a:solidFill>
                          <a:schemeClr val="tx1"/>
                        </a:solidFill>
                        <a:effectLst/>
                        <a:latin typeface="+mj-lt"/>
                        <a:ea typeface="Aptos" panose="020B0004020202020204" pitchFamily="34" charset="0"/>
                        <a:cs typeface="Times New Roman" panose="02020603050405020304" pitchFamily="18" charset="0"/>
                      </a:endParaRPr>
                    </a:p>
                  </a:txBody>
                  <a:tcPr marL="0" marR="0" marT="152400" marB="152400" anchor="ctr">
                    <a:noFill/>
                  </a:tcPr>
                </a:tc>
                <a:extLst>
                  <a:ext uri="{0D108BD9-81ED-4DB2-BD59-A6C34878D82A}">
                    <a16:rowId xmlns:a16="http://schemas.microsoft.com/office/drawing/2014/main" val="118340913"/>
                  </a:ext>
                </a:extLst>
              </a:tr>
              <a:tr h="669924">
                <a:tc>
                  <a:txBody>
                    <a:bodyPr/>
                    <a:lstStyle/>
                    <a:p>
                      <a:pPr marL="0" marR="0">
                        <a:lnSpc>
                          <a:spcPct val="115000"/>
                        </a:lnSpc>
                        <a:spcAft>
                          <a:spcPts val="800"/>
                        </a:spcAft>
                        <a:buNone/>
                      </a:pPr>
                      <a:r>
                        <a:rPr lang="en-US" sz="1200" kern="100">
                          <a:solidFill>
                            <a:schemeClr val="tx1"/>
                          </a:solidFill>
                          <a:effectLst/>
                          <a:latin typeface="+mj-lt"/>
                        </a:rPr>
                        <a:t>FT-02</a:t>
                      </a:r>
                      <a:endParaRPr lang="en-US" sz="1200" kern="100">
                        <a:solidFill>
                          <a:schemeClr val="tx1"/>
                        </a:solidFill>
                        <a:effectLst/>
                        <a:latin typeface="+mj-lt"/>
                        <a:ea typeface="Aptos" panose="020B0004020202020204" pitchFamily="34" charset="0"/>
                        <a:cs typeface="Times New Roman" panose="02020603050405020304" pitchFamily="18" charset="0"/>
                      </a:endParaRPr>
                    </a:p>
                  </a:txBody>
                  <a:tcPr marL="0" marR="114300" marT="152400" marB="152400" anchor="ctr">
                    <a:noFill/>
                  </a:tcPr>
                </a:tc>
                <a:tc>
                  <a:txBody>
                    <a:bodyPr/>
                    <a:lstStyle/>
                    <a:p>
                      <a:pPr marL="0" marR="0">
                        <a:lnSpc>
                          <a:spcPct val="115000"/>
                        </a:lnSpc>
                        <a:spcAft>
                          <a:spcPts val="800"/>
                        </a:spcAft>
                        <a:buNone/>
                      </a:pPr>
                      <a:r>
                        <a:rPr lang="en-US" sz="1200" kern="100">
                          <a:solidFill>
                            <a:schemeClr val="tx1"/>
                          </a:solidFill>
                          <a:effectLst/>
                          <a:latin typeface="+mj-lt"/>
                        </a:rPr>
                        <a:t>Report Triage</a:t>
                      </a:r>
                      <a:endParaRPr lang="en-US" sz="1200" kern="100">
                        <a:solidFill>
                          <a:schemeClr val="tx1"/>
                        </a:solidFill>
                        <a:effectLst/>
                        <a:latin typeface="+mj-lt"/>
                        <a:ea typeface="Aptos" panose="020B0004020202020204" pitchFamily="34" charset="0"/>
                        <a:cs typeface="Times New Roman" panose="02020603050405020304" pitchFamily="18" charset="0"/>
                      </a:endParaRPr>
                    </a:p>
                  </a:txBody>
                  <a:tcPr marL="0" marR="114300" marT="152400" marB="152400" anchor="ctr">
                    <a:noFill/>
                  </a:tcPr>
                </a:tc>
                <a:tc>
                  <a:txBody>
                    <a:bodyPr/>
                    <a:lstStyle/>
                    <a:p>
                      <a:pPr marL="0" marR="0">
                        <a:lnSpc>
                          <a:spcPct val="115000"/>
                        </a:lnSpc>
                        <a:spcAft>
                          <a:spcPts val="800"/>
                        </a:spcAft>
                        <a:buNone/>
                      </a:pPr>
                      <a:r>
                        <a:rPr lang="en-US" sz="1200" kern="100">
                          <a:solidFill>
                            <a:schemeClr val="tx1"/>
                          </a:solidFill>
                          <a:effectLst/>
                          <a:latin typeface="+mj-lt"/>
                        </a:rPr>
                        <a:t>Filtering in Reports tab is isolated from Queue</a:t>
                      </a:r>
                      <a:endParaRPr lang="en-US" sz="1200" kern="100">
                        <a:solidFill>
                          <a:schemeClr val="tx1"/>
                        </a:solidFill>
                        <a:effectLst/>
                        <a:latin typeface="+mj-lt"/>
                        <a:ea typeface="Aptos" panose="020B0004020202020204" pitchFamily="34" charset="0"/>
                        <a:cs typeface="Times New Roman" panose="02020603050405020304" pitchFamily="18" charset="0"/>
                      </a:endParaRPr>
                    </a:p>
                  </a:txBody>
                  <a:tcPr marL="0" marR="114300" marT="152400" marB="152400" anchor="ctr">
                    <a:noFill/>
                  </a:tcPr>
                </a:tc>
                <a:tc>
                  <a:txBody>
                    <a:bodyPr/>
                    <a:lstStyle/>
                    <a:p>
                      <a:pPr marL="0" marR="0">
                        <a:lnSpc>
                          <a:spcPct val="115000"/>
                        </a:lnSpc>
                        <a:spcAft>
                          <a:spcPts val="800"/>
                        </a:spcAft>
                        <a:buNone/>
                      </a:pPr>
                      <a:r>
                        <a:rPr lang="en-US" sz="1200" kern="100" dirty="0">
                          <a:solidFill>
                            <a:schemeClr val="tx1"/>
                          </a:solidFill>
                          <a:effectLst/>
                          <a:latin typeface="+mj-lt"/>
                        </a:rPr>
                        <a:t>PASS</a:t>
                      </a:r>
                      <a:endParaRPr lang="en-US" sz="1200" kern="100" dirty="0">
                        <a:solidFill>
                          <a:schemeClr val="tx1"/>
                        </a:solidFill>
                        <a:effectLst/>
                        <a:latin typeface="+mj-lt"/>
                        <a:ea typeface="Aptos" panose="020B0004020202020204" pitchFamily="34" charset="0"/>
                        <a:cs typeface="Times New Roman" panose="02020603050405020304" pitchFamily="18" charset="0"/>
                      </a:endParaRPr>
                    </a:p>
                  </a:txBody>
                  <a:tcPr marL="0" marR="0" marT="152400" marB="152400" anchor="ctr">
                    <a:noFill/>
                  </a:tcPr>
                </a:tc>
                <a:extLst>
                  <a:ext uri="{0D108BD9-81ED-4DB2-BD59-A6C34878D82A}">
                    <a16:rowId xmlns:a16="http://schemas.microsoft.com/office/drawing/2014/main" val="1988696377"/>
                  </a:ext>
                </a:extLst>
              </a:tr>
            </a:tbl>
          </a:graphicData>
        </a:graphic>
      </p:graphicFrame>
    </p:spTree>
    <p:extLst>
      <p:ext uri="{BB962C8B-B14F-4D97-AF65-F5344CB8AC3E}">
        <p14:creationId xmlns:p14="http://schemas.microsoft.com/office/powerpoint/2010/main" val="29989984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6A8277-ACFF-8785-0182-31063B82095D}"/>
              </a:ext>
            </a:extLst>
          </p:cNvPr>
          <p:cNvSpPr>
            <a:spLocks noGrp="1"/>
          </p:cNvSpPr>
          <p:nvPr>
            <p:ph type="title"/>
          </p:nvPr>
        </p:nvSpPr>
        <p:spPr/>
        <p:txBody>
          <a:bodyPr/>
          <a:lstStyle/>
          <a:p>
            <a:r>
              <a:rPr lang="en-US" dirty="0"/>
              <a:t>Roadmap to Final Submission</a:t>
            </a:r>
          </a:p>
        </p:txBody>
      </p:sp>
      <p:sp>
        <p:nvSpPr>
          <p:cNvPr id="4" name="Rectangle 1">
            <a:extLst>
              <a:ext uri="{FF2B5EF4-FFF2-40B4-BE49-F238E27FC236}">
                <a16:creationId xmlns:a16="http://schemas.microsoft.com/office/drawing/2014/main" id="{1BB854B5-3A53-DE5C-D174-B905A38C967D}"/>
              </a:ext>
            </a:extLst>
          </p:cNvPr>
          <p:cNvSpPr>
            <a:spLocks noGrp="1" noChangeArrowheads="1"/>
          </p:cNvSpPr>
          <p:nvPr>
            <p:ph idx="1"/>
          </p:nvPr>
        </p:nvSpPr>
        <p:spPr bwMode="auto">
          <a:xfrm>
            <a:off x="913795" y="2789471"/>
            <a:ext cx="11296682"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mj-lt"/>
              </a:rPr>
              <a:t>Category Alignment:</a:t>
            </a:r>
            <a:r>
              <a:rPr kumimoji="0" lang="en-US" altLang="en-US" sz="1800" b="0" i="0" u="none" strike="noStrike" cap="none" normalizeH="0" baseline="0" dirty="0">
                <a:ln>
                  <a:noFill/>
                </a:ln>
                <a:solidFill>
                  <a:schemeClr val="tx1"/>
                </a:solidFill>
                <a:effectLst/>
                <a:latin typeface="+mj-lt"/>
              </a:rPr>
              <a:t> Finalizing "Submit" page to match Admin Portal analytics.</a:t>
            </a: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1800" dirty="0">
              <a:effectLst/>
              <a:latin typeface="+mj-l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mj-lt"/>
              </a:rPr>
              <a:t>Bug fixing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mj-l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mj-lt"/>
              </a:rPr>
              <a:t>Stress Testing:</a:t>
            </a:r>
            <a:r>
              <a:rPr kumimoji="0" lang="en-US" altLang="en-US" sz="1800" b="0" i="0" u="none" strike="noStrike" cap="none" normalizeH="0" baseline="0" dirty="0">
                <a:ln>
                  <a:noFill/>
                </a:ln>
                <a:solidFill>
                  <a:schemeClr val="tx1"/>
                </a:solidFill>
                <a:effectLst/>
                <a:latin typeface="+mj-lt"/>
              </a:rPr>
              <a:t> Simulating 100+ concurrent tickets to verify Raspberry Pi MariaDB performance.</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mj-l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mj-lt"/>
              </a:rPr>
              <a:t>Documentation:</a:t>
            </a:r>
            <a:r>
              <a:rPr kumimoji="0" lang="en-US" altLang="en-US" sz="1800" b="0" i="0" u="none" strike="noStrike" cap="none" normalizeH="0" baseline="0" dirty="0">
                <a:ln>
                  <a:noFill/>
                </a:ln>
                <a:solidFill>
                  <a:schemeClr val="tx1"/>
                </a:solidFill>
                <a:effectLst/>
                <a:latin typeface="+mj-lt"/>
              </a:rPr>
              <a:t> "User Manual," and "System Overview."</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mj-lt"/>
            </a:endParaRPr>
          </a:p>
        </p:txBody>
      </p:sp>
    </p:spTree>
    <p:extLst>
      <p:ext uri="{BB962C8B-B14F-4D97-AF65-F5344CB8AC3E}">
        <p14:creationId xmlns:p14="http://schemas.microsoft.com/office/powerpoint/2010/main" val="16603315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6C9881-6435-4033-2DA4-9D792FC26F5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94A6B20-63B6-79CB-A9AB-5733916AF436}"/>
              </a:ext>
            </a:extLst>
          </p:cNvPr>
          <p:cNvSpPr>
            <a:spLocks noGrp="1"/>
          </p:cNvSpPr>
          <p:nvPr>
            <p:ph type="title"/>
          </p:nvPr>
        </p:nvSpPr>
        <p:spPr>
          <a:xfrm>
            <a:off x="913795" y="609600"/>
            <a:ext cx="11091392" cy="1326321"/>
          </a:xfrm>
        </p:spPr>
        <p:txBody>
          <a:bodyPr>
            <a:normAutofit/>
          </a:bodyPr>
          <a:lstStyle/>
          <a:p>
            <a:r>
              <a:rPr lang="en-US" sz="2000" dirty="0"/>
              <a:t>GitHub    https://github.com/stantod77/CampusFix-Core</a:t>
            </a:r>
          </a:p>
        </p:txBody>
      </p:sp>
      <p:sp>
        <p:nvSpPr>
          <p:cNvPr id="4" name="Rectangle 1">
            <a:extLst>
              <a:ext uri="{FF2B5EF4-FFF2-40B4-BE49-F238E27FC236}">
                <a16:creationId xmlns:a16="http://schemas.microsoft.com/office/drawing/2014/main" id="{DAFB15A9-3070-D045-236A-E7E922AD5D23}"/>
              </a:ext>
            </a:extLst>
          </p:cNvPr>
          <p:cNvSpPr>
            <a:spLocks noGrp="1" noChangeArrowheads="1"/>
          </p:cNvSpPr>
          <p:nvPr>
            <p:ph idx="1"/>
          </p:nvPr>
        </p:nvSpPr>
        <p:spPr bwMode="auto">
          <a:xfrm>
            <a:off x="2975309" y="2901017"/>
            <a:ext cx="5631670"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None/>
              <a:tabLst/>
            </a:pPr>
            <a:r>
              <a:rPr kumimoji="0" lang="en-US" altLang="en-US" sz="7200" b="1" i="0" u="none" strike="noStrike" cap="none" normalizeH="0" baseline="0" dirty="0">
                <a:ln>
                  <a:noFill/>
                </a:ln>
                <a:solidFill>
                  <a:schemeClr val="tx1"/>
                </a:solidFill>
                <a:effectLst/>
                <a:latin typeface="+mj-lt"/>
              </a:rPr>
              <a:t>Thank you!</a:t>
            </a:r>
            <a:endParaRPr kumimoji="0" lang="en-US" altLang="en-US" sz="7200" b="0" i="0" u="none" strike="noStrike" cap="none" normalizeH="0" baseline="0" dirty="0">
              <a:ln>
                <a:noFill/>
              </a:ln>
              <a:solidFill>
                <a:schemeClr val="tx1"/>
              </a:solidFill>
              <a:effectLst/>
              <a:latin typeface="+mj-lt"/>
            </a:endParaRPr>
          </a:p>
        </p:txBody>
      </p:sp>
    </p:spTree>
    <p:extLst>
      <p:ext uri="{BB962C8B-B14F-4D97-AF65-F5344CB8AC3E}">
        <p14:creationId xmlns:p14="http://schemas.microsoft.com/office/powerpoint/2010/main" val="3033186615"/>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Damask">
  <a:themeElements>
    <a:clrScheme name="Damask">
      <a:dk1>
        <a:sysClr val="windowText" lastClr="000000"/>
      </a:dk1>
      <a:lt1>
        <a:sysClr val="window" lastClr="FFFFFF"/>
      </a:lt1>
      <a:dk2>
        <a:srgbClr val="2A5B7F"/>
      </a:dk2>
      <a:lt2>
        <a:srgbClr val="ABDAFC"/>
      </a:lt2>
      <a:accent1>
        <a:srgbClr val="9EC544"/>
      </a:accent1>
      <a:accent2>
        <a:srgbClr val="50BEA3"/>
      </a:accent2>
      <a:accent3>
        <a:srgbClr val="4A9CCC"/>
      </a:accent3>
      <a:accent4>
        <a:srgbClr val="9A66CA"/>
      </a:accent4>
      <a:accent5>
        <a:srgbClr val="C54F71"/>
      </a:accent5>
      <a:accent6>
        <a:srgbClr val="DE9C3C"/>
      </a:accent6>
      <a:hlink>
        <a:srgbClr val="6BA9DA"/>
      </a:hlink>
      <a:folHlink>
        <a:srgbClr val="A0BCD3"/>
      </a:folHlink>
    </a:clrScheme>
    <a:fontScheme name="Damask">
      <a:majorFont>
        <a:latin typeface="Bookman Old Style" panose="02050604050505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Rockwell" panose="020606030202050204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amask">
      <a:fillStyleLst>
        <a:solidFill>
          <a:schemeClr val="phClr"/>
        </a:solidFill>
        <a:gradFill rotWithShape="1">
          <a:gsLst>
            <a:gs pos="0">
              <a:schemeClr val="phClr">
                <a:tint val="48000"/>
                <a:satMod val="105000"/>
                <a:lumMod val="110000"/>
              </a:schemeClr>
            </a:gs>
            <a:gs pos="100000">
              <a:schemeClr val="phClr">
                <a:tint val="78000"/>
                <a:satMod val="109000"/>
                <a:lumMod val="100000"/>
              </a:schemeClr>
            </a:gs>
          </a:gsLst>
          <a:lin ang="5400000" scaled="0"/>
        </a:gradFill>
        <a:gradFill rotWithShape="1">
          <a:gsLst>
            <a:gs pos="0">
              <a:schemeClr val="phClr">
                <a:tint val="94000"/>
                <a:satMod val="100000"/>
                <a:lumMod val="104000"/>
              </a:schemeClr>
            </a:gs>
            <a:gs pos="69000">
              <a:schemeClr val="phClr">
                <a:shade val="86000"/>
                <a:satMod val="130000"/>
                <a:lumMod val="102000"/>
              </a:schemeClr>
            </a:gs>
            <a:gs pos="100000">
              <a:schemeClr val="phClr">
                <a:shade val="72000"/>
                <a:satMod val="130000"/>
                <a:lumMod val="100000"/>
              </a:schemeClr>
            </a:gs>
          </a:gsLst>
          <a:lin ang="5400000" scaled="0"/>
        </a:gradFill>
      </a:fillStyleLst>
      <a:lnStyleLst>
        <a:ln w="12700"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50800" dist="38100" dir="5400000" sy="96000" rotWithShape="0">
              <a:srgbClr val="000000">
                <a:alpha val="54000"/>
              </a:srgbClr>
            </a:outerShdw>
          </a:effectLst>
        </a:effectStyle>
        <a:effectStyle>
          <a:effectLst>
            <a:outerShdw blurRad="76200" dist="38100" dir="5400000" algn="ctr" rotWithShape="0">
              <a:srgbClr val="000000">
                <a:alpha val="76000"/>
              </a:srgbClr>
            </a:outerShdw>
          </a:effectLst>
          <a:scene3d>
            <a:camera prst="orthographicFront">
              <a:rot lat="0" lon="0" rev="0"/>
            </a:camera>
            <a:lightRig rig="balanced" dir="t"/>
          </a:scene3d>
          <a:sp3d prstMaterial="matte">
            <a:bevelT w="25400" h="25400" prst="relaxedInset"/>
          </a:sp3d>
        </a:effectStyle>
      </a:effectStyleLst>
      <a:bgFillStyleLst>
        <a:solidFill>
          <a:schemeClr val="phClr"/>
        </a:solidFill>
        <a:solidFill>
          <a:schemeClr val="phClr">
            <a:tint val="95000"/>
            <a:satMod val="170000"/>
          </a:schemeClr>
        </a:solidFill>
        <a:blipFill rotWithShape="1">
          <a:blip xmlns:r="http://schemas.openxmlformats.org/officeDocument/2006/relationships" r:embed="rId1">
            <a:duotone>
              <a:schemeClr val="phClr">
                <a:shade val="18000"/>
                <a:satMod val="160000"/>
                <a:lumMod val="28000"/>
              </a:schemeClr>
              <a:schemeClr val="phClr">
                <a:tint val="95000"/>
                <a:satMod val="160000"/>
                <a:lumMod val="116000"/>
              </a:schemeClr>
            </a:duotone>
          </a:blip>
          <a:stretch/>
        </a:blipFill>
      </a:bgFillStyleLst>
    </a:fmtScheme>
  </a:themeElements>
  <a:objectDefaults/>
  <a:extraClrSchemeLst/>
  <a:extLst>
    <a:ext uri="{05A4C25C-085E-4340-85A3-A5531E510DB2}">
      <thm15:themeFamily xmlns:thm15="http://schemas.microsoft.com/office/thememl/2012/main" name="Damask" id="{F9A299A0-33D0-4E0F-9F3F-7163E3744208}" vid="{746EEEEA-FB6A-406B-B510-531588D5481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TM04033921[[fn=Damask]]</Template>
  <TotalTime>71</TotalTime>
  <Words>504</Words>
  <Application>Microsoft Office PowerPoint</Application>
  <PresentationFormat>Widescreen</PresentationFormat>
  <Paragraphs>59</Paragraphs>
  <Slides>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Aptos</vt:lpstr>
      <vt:lpstr>Arial</vt:lpstr>
      <vt:lpstr>Bookman Old Style</vt:lpstr>
      <vt:lpstr>Rockwell</vt:lpstr>
      <vt:lpstr>Damask</vt:lpstr>
      <vt:lpstr>CampusFix: Smart Facility Maintenance Management System   Prototype Development &amp; System Integration</vt:lpstr>
      <vt:lpstr>Prototype Overview (Admin Control Center)</vt:lpstr>
      <vt:lpstr>Prototype Overview (Admin Control Center)</vt:lpstr>
      <vt:lpstr>Prototype Overview (Admin Control Center)</vt:lpstr>
      <vt:lpstr>Technical Implementation</vt:lpstr>
      <vt:lpstr>Notification Architecture and Transactional Logging</vt:lpstr>
      <vt:lpstr>Testing - Unit &amp; Functional</vt:lpstr>
      <vt:lpstr>Roadmap to Final Submission</vt:lpstr>
      <vt:lpstr>GitHub    https://github.com/stantod77/CampusFix-Core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Philip Valer Polanco</dc:creator>
  <cp:lastModifiedBy>Stanimir Todorov</cp:lastModifiedBy>
  <cp:revision>9</cp:revision>
  <dcterms:created xsi:type="dcterms:W3CDTF">2026-03-02T19:33:57Z</dcterms:created>
  <dcterms:modified xsi:type="dcterms:W3CDTF">2026-03-28T02:32:09Z</dcterms:modified>
</cp:coreProperties>
</file>