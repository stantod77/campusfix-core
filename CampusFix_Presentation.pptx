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67" r:id="rId5"/>
    <p:sldId id="268" r:id="rId6"/>
    <p:sldId id="270" r:id="rId7"/>
    <p:sldId id="271" r:id="rId8"/>
    <p:sldId id="273" r:id="rId9"/>
  </p:sldIdLst>
  <p:sldSz cx="18288000" cy="10287000"/>
  <p:notesSz cx="6858000" cy="9144000"/>
  <p:embeddedFontLst>
    <p:embeddedFont>
      <p:font typeface="Garet Bold" panose="020B0604020202020204" charset="0"/>
      <p:regular r:id="rId11"/>
    </p:embeddedFont>
    <p:embeddedFont>
      <p:font typeface="Poppins" panose="00000500000000000000" pitchFamily="2" charset="0"/>
      <p:regular r:id="rId12"/>
      <p:bold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936"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1C6253-AFB8-4CAE-B3A2-526C9A1A63A2}" type="datetimeFigureOut">
              <a:rPr lang="en-US" smtClean="0"/>
              <a:t>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AD53BB-B7F5-4DA3-B7D4-64E1278C9E89}" type="slidenum">
              <a:rPr lang="en-US" smtClean="0"/>
              <a:t>‹#›</a:t>
            </a:fld>
            <a:endParaRPr lang="en-US"/>
          </a:p>
        </p:txBody>
      </p:sp>
    </p:spTree>
    <p:extLst>
      <p:ext uri="{BB962C8B-B14F-4D97-AF65-F5344CB8AC3E}">
        <p14:creationId xmlns:p14="http://schemas.microsoft.com/office/powerpoint/2010/main" val="546127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AD53BB-B7F5-4DA3-B7D4-64E1278C9E89}" type="slidenum">
              <a:rPr lang="en-US" smtClean="0"/>
              <a:t>2</a:t>
            </a:fld>
            <a:endParaRPr lang="en-US"/>
          </a:p>
        </p:txBody>
      </p:sp>
    </p:spTree>
    <p:extLst>
      <p:ext uri="{BB962C8B-B14F-4D97-AF65-F5344CB8AC3E}">
        <p14:creationId xmlns:p14="http://schemas.microsoft.com/office/powerpoint/2010/main" val="1019304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3444" r="-3444"/>
            </a:stretch>
          </a:blipFill>
        </p:spPr>
        <p:txBody>
          <a:bodyPr/>
          <a:lstStyle/>
          <a:p>
            <a:endParaRPr lang="en-US"/>
          </a:p>
        </p:txBody>
      </p:sp>
      <p:sp>
        <p:nvSpPr>
          <p:cNvPr id="6" name="Freeform 6"/>
          <p:cNvSpPr/>
          <p:nvPr/>
        </p:nvSpPr>
        <p:spPr>
          <a:xfrm>
            <a:off x="15241402" y="8463753"/>
            <a:ext cx="2017898" cy="794547"/>
          </a:xfrm>
          <a:custGeom>
            <a:avLst/>
            <a:gdLst/>
            <a:ahLst/>
            <a:cxnLst/>
            <a:rect l="l" t="t" r="r" b="b"/>
            <a:pathLst>
              <a:path w="2017898" h="794547">
                <a:moveTo>
                  <a:pt x="0" y="0"/>
                </a:moveTo>
                <a:lnTo>
                  <a:pt x="2017898" y="0"/>
                </a:lnTo>
                <a:lnTo>
                  <a:pt x="2017898" y="794547"/>
                </a:lnTo>
                <a:lnTo>
                  <a:pt x="0" y="79454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3830958" y="3793649"/>
            <a:ext cx="10626084" cy="2418611"/>
          </a:xfrm>
          <a:prstGeom prst="rect">
            <a:avLst/>
          </a:prstGeom>
        </p:spPr>
        <p:txBody>
          <a:bodyPr lIns="0" tIns="0" rIns="0" bIns="0" rtlCol="0" anchor="t">
            <a:spAutoFit/>
          </a:bodyPr>
          <a:lstStyle/>
          <a:p>
            <a:pPr algn="ctr">
              <a:lnSpc>
                <a:spcPts val="9200"/>
              </a:lnSpc>
            </a:pPr>
            <a:r>
              <a:rPr lang="en-US" sz="9200" b="1" dirty="0">
                <a:solidFill>
                  <a:srgbClr val="FFFFFF"/>
                </a:solidFill>
                <a:latin typeface="Garet Bold"/>
                <a:ea typeface="Garet Bold"/>
                <a:cs typeface="Garet Bold"/>
                <a:sym typeface="Garet Bold"/>
              </a:rPr>
              <a:t>CampusFix</a:t>
            </a:r>
          </a:p>
          <a:p>
            <a:pPr algn="ctr">
              <a:lnSpc>
                <a:spcPts val="9200"/>
              </a:lnSpc>
            </a:pPr>
            <a:endParaRPr lang="en-US" sz="9200" b="1" dirty="0">
              <a:solidFill>
                <a:srgbClr val="FFFFFF"/>
              </a:solidFill>
              <a:latin typeface="Garet Bold"/>
              <a:ea typeface="Garet Bold"/>
              <a:cs typeface="Garet Bold"/>
              <a:sym typeface="Garet Bold"/>
            </a:endParaRPr>
          </a:p>
        </p:txBody>
      </p:sp>
      <p:sp>
        <p:nvSpPr>
          <p:cNvPr id="11" name="TextBox 11"/>
          <p:cNvSpPr txBox="1"/>
          <p:nvPr/>
        </p:nvSpPr>
        <p:spPr>
          <a:xfrm>
            <a:off x="5900016" y="6258331"/>
            <a:ext cx="6487967" cy="1211357"/>
          </a:xfrm>
          <a:prstGeom prst="rect">
            <a:avLst/>
          </a:prstGeom>
        </p:spPr>
        <p:txBody>
          <a:bodyPr lIns="0" tIns="0" rIns="0" bIns="0" rtlCol="0" anchor="t">
            <a:spAutoFit/>
          </a:bodyPr>
          <a:lstStyle/>
          <a:p>
            <a:pPr algn="ctr">
              <a:lnSpc>
                <a:spcPts val="3071"/>
              </a:lnSpc>
              <a:spcBef>
                <a:spcPct val="0"/>
              </a:spcBef>
            </a:pPr>
            <a:r>
              <a:rPr lang="en-US" sz="3071" b="1" dirty="0">
                <a:solidFill>
                  <a:srgbClr val="38B6FF"/>
                </a:solidFill>
                <a:latin typeface="Garet Bold"/>
              </a:rPr>
              <a:t>Intelligent Facilities Management</a:t>
            </a:r>
          </a:p>
          <a:p>
            <a:pPr algn="ctr">
              <a:lnSpc>
                <a:spcPts val="3071"/>
              </a:lnSpc>
              <a:spcBef>
                <a:spcPct val="0"/>
              </a:spcBef>
            </a:pPr>
            <a:endParaRPr lang="en-US" sz="3071" b="1" dirty="0">
              <a:solidFill>
                <a:srgbClr val="38B6FF"/>
              </a:solidFill>
              <a:latin typeface="Garet Bold"/>
              <a:ea typeface="Garet Bold"/>
              <a:cs typeface="Garet Bold"/>
              <a:sym typeface="Garet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31B3A"/>
        </a:solidFill>
        <a:effectLst/>
      </p:bgPr>
    </p:bg>
    <p:spTree>
      <p:nvGrpSpPr>
        <p:cNvPr id="1" name=""/>
        <p:cNvGrpSpPr/>
        <p:nvPr/>
      </p:nvGrpSpPr>
      <p:grpSpPr>
        <a:xfrm>
          <a:off x="0" y="0"/>
          <a:ext cx="0" cy="0"/>
          <a:chOff x="0" y="0"/>
          <a:chExt cx="0" cy="0"/>
        </a:xfrm>
      </p:grpSpPr>
      <p:sp>
        <p:nvSpPr>
          <p:cNvPr id="2" name="Freeform 2"/>
          <p:cNvSpPr/>
          <p:nvPr/>
        </p:nvSpPr>
        <p:spPr>
          <a:xfrm flipV="1">
            <a:off x="0" y="-167148"/>
            <a:ext cx="5403240" cy="3295976"/>
          </a:xfrm>
          <a:custGeom>
            <a:avLst/>
            <a:gdLst/>
            <a:ahLst/>
            <a:cxnLst/>
            <a:rect l="l" t="t" r="r" b="b"/>
            <a:pathLst>
              <a:path w="5403240" h="3295976">
                <a:moveTo>
                  <a:pt x="0" y="3295976"/>
                </a:moveTo>
                <a:lnTo>
                  <a:pt x="5403240" y="3295976"/>
                </a:lnTo>
                <a:lnTo>
                  <a:pt x="5403240" y="0"/>
                </a:lnTo>
                <a:lnTo>
                  <a:pt x="0" y="0"/>
                </a:lnTo>
                <a:lnTo>
                  <a:pt x="0" y="3295976"/>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3" name="Group 3"/>
          <p:cNvGrpSpPr/>
          <p:nvPr/>
        </p:nvGrpSpPr>
        <p:grpSpPr>
          <a:xfrm>
            <a:off x="12886649" y="6706829"/>
            <a:ext cx="6087151" cy="608715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B6FF"/>
            </a:solidFill>
          </p:spPr>
          <p:txBody>
            <a:bodyPr/>
            <a:lstStyle/>
            <a:p>
              <a:endParaRPr lang="en-US"/>
            </a:p>
          </p:txBody>
        </p:sp>
        <p:sp>
          <p:nvSpPr>
            <p:cNvPr id="5" name="TextBox 5"/>
            <p:cNvSpPr txBox="1"/>
            <p:nvPr/>
          </p:nvSpPr>
          <p:spPr>
            <a:xfrm>
              <a:off x="76200" y="104775"/>
              <a:ext cx="660400" cy="631825"/>
            </a:xfrm>
            <a:prstGeom prst="rect">
              <a:avLst/>
            </a:prstGeom>
          </p:spPr>
          <p:txBody>
            <a:bodyPr lIns="50800" tIns="50800" rIns="50800" bIns="50800" rtlCol="0" anchor="ctr"/>
            <a:lstStyle/>
            <a:p>
              <a:pPr algn="ctr">
                <a:lnSpc>
                  <a:spcPts val="1800"/>
                </a:lnSpc>
              </a:pPr>
              <a:endParaRPr/>
            </a:p>
          </p:txBody>
        </p:sp>
      </p:grpSp>
      <p:sp>
        <p:nvSpPr>
          <p:cNvPr id="9" name="TextBox 9"/>
          <p:cNvSpPr txBox="1"/>
          <p:nvPr/>
        </p:nvSpPr>
        <p:spPr>
          <a:xfrm>
            <a:off x="1448272" y="2535260"/>
            <a:ext cx="7296574" cy="923330"/>
          </a:xfrm>
          <a:prstGeom prst="rect">
            <a:avLst/>
          </a:prstGeom>
        </p:spPr>
        <p:txBody>
          <a:bodyPr wrap="square" lIns="0" tIns="0" rIns="0" bIns="0" rtlCol="0" anchor="t">
            <a:spAutoFit/>
          </a:bodyPr>
          <a:lstStyle/>
          <a:p>
            <a:pPr algn="l">
              <a:lnSpc>
                <a:spcPts val="7200"/>
              </a:lnSpc>
            </a:pPr>
            <a:r>
              <a:rPr lang="en-US" sz="6000" b="1" dirty="0">
                <a:solidFill>
                  <a:srgbClr val="FFFFFF"/>
                </a:solidFill>
                <a:latin typeface="Garet Bold"/>
                <a:ea typeface="Garet Bold"/>
                <a:cs typeface="Garet Bold"/>
                <a:sym typeface="Garet Bold"/>
              </a:rPr>
              <a:t>INTRODUCTION</a:t>
            </a:r>
          </a:p>
        </p:txBody>
      </p:sp>
      <p:sp>
        <p:nvSpPr>
          <p:cNvPr id="10" name="TextBox 10"/>
          <p:cNvSpPr txBox="1"/>
          <p:nvPr/>
        </p:nvSpPr>
        <p:spPr>
          <a:xfrm>
            <a:off x="381000" y="3832047"/>
            <a:ext cx="7296574" cy="2073453"/>
          </a:xfrm>
          <a:prstGeom prst="rect">
            <a:avLst/>
          </a:prstGeom>
        </p:spPr>
        <p:txBody>
          <a:bodyPr lIns="0" tIns="0" rIns="0" bIns="0" rtlCol="0" anchor="t">
            <a:spAutoFit/>
          </a:bodyPr>
          <a:lstStyle/>
          <a:p>
            <a:pPr>
              <a:lnSpc>
                <a:spcPts val="2299"/>
              </a:lnSpc>
              <a:spcBef>
                <a:spcPct val="0"/>
              </a:spcBef>
            </a:pPr>
            <a:r>
              <a:rPr lang="en-US" sz="2299" dirty="0">
                <a:solidFill>
                  <a:srgbClr val="FFFFFF"/>
                </a:solidFill>
                <a:latin typeface="Poppins"/>
                <a:cs typeface="Poppins"/>
              </a:rPr>
              <a:t>CampusFix is a centralized, web-based facility maintenance management system designed to modernize how maintenance issues are reported, prioritized, and resolved. This project demonstrates the integration of database management, programming logic, web development, and project management skills.</a:t>
            </a:r>
            <a:endParaRPr lang="en-US" sz="2299" dirty="0">
              <a:solidFill>
                <a:srgbClr val="FFFFFF"/>
              </a:solidFill>
              <a:latin typeface="Poppins"/>
              <a:ea typeface="Poppins"/>
              <a:cs typeface="Poppins"/>
              <a:sym typeface="Poppins"/>
            </a:endParaRPr>
          </a:p>
        </p:txBody>
      </p:sp>
      <p:sp>
        <p:nvSpPr>
          <p:cNvPr id="11" name="Freeform 11"/>
          <p:cNvSpPr/>
          <p:nvPr/>
        </p:nvSpPr>
        <p:spPr>
          <a:xfrm>
            <a:off x="14825394" y="1028700"/>
            <a:ext cx="2433906" cy="958351"/>
          </a:xfrm>
          <a:custGeom>
            <a:avLst/>
            <a:gdLst/>
            <a:ahLst/>
            <a:cxnLst/>
            <a:rect l="l" t="t" r="r" b="b"/>
            <a:pathLst>
              <a:path w="2433906" h="958351">
                <a:moveTo>
                  <a:pt x="0" y="0"/>
                </a:moveTo>
                <a:lnTo>
                  <a:pt x="2433906" y="0"/>
                </a:lnTo>
                <a:lnTo>
                  <a:pt x="2433906" y="958351"/>
                </a:lnTo>
                <a:lnTo>
                  <a:pt x="0" y="9583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pic>
        <p:nvPicPr>
          <p:cNvPr id="18" name="Picture 17" descr="A building with a green lawn and a lamp post&#10;&#10;AI-generated content may be incorrect.">
            <a:extLst>
              <a:ext uri="{FF2B5EF4-FFF2-40B4-BE49-F238E27FC236}">
                <a16:creationId xmlns:a16="http://schemas.microsoft.com/office/drawing/2014/main" id="{F5E5C964-5469-16CF-CB8E-B6F12DB18B8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796284" y="5143500"/>
            <a:ext cx="6822169" cy="4533900"/>
          </a:xfrm>
          <a:prstGeom prst="rect">
            <a:avLst/>
          </a:prstGeom>
        </p:spPr>
      </p:pic>
      <p:sp>
        <p:nvSpPr>
          <p:cNvPr id="19" name="TextBox 9">
            <a:extLst>
              <a:ext uri="{FF2B5EF4-FFF2-40B4-BE49-F238E27FC236}">
                <a16:creationId xmlns:a16="http://schemas.microsoft.com/office/drawing/2014/main" id="{A238B8D6-E5B9-F96B-2804-FFDE7A98CBA0}"/>
              </a:ext>
            </a:extLst>
          </p:cNvPr>
          <p:cNvSpPr txBox="1"/>
          <p:nvPr/>
        </p:nvSpPr>
        <p:spPr>
          <a:xfrm>
            <a:off x="1447800" y="6134100"/>
            <a:ext cx="7296574" cy="815608"/>
          </a:xfrm>
          <a:prstGeom prst="rect">
            <a:avLst/>
          </a:prstGeom>
        </p:spPr>
        <p:txBody>
          <a:bodyPr wrap="square" lIns="0" tIns="0" rIns="0" bIns="0" rtlCol="0" anchor="t">
            <a:spAutoFit/>
          </a:bodyPr>
          <a:lstStyle/>
          <a:p>
            <a:pPr algn="l">
              <a:lnSpc>
                <a:spcPts val="7200"/>
              </a:lnSpc>
            </a:pPr>
            <a:r>
              <a:rPr lang="en-US" sz="3200" b="1" dirty="0">
                <a:solidFill>
                  <a:srgbClr val="FFFFFF"/>
                </a:solidFill>
                <a:latin typeface="Garet Bold"/>
                <a:ea typeface="Garet Bold"/>
                <a:cs typeface="Garet Bold"/>
                <a:sym typeface="Garet Bold"/>
              </a:rPr>
              <a:t>The Team </a:t>
            </a:r>
          </a:p>
        </p:txBody>
      </p:sp>
      <p:sp>
        <p:nvSpPr>
          <p:cNvPr id="21" name="TextBox 10">
            <a:extLst>
              <a:ext uri="{FF2B5EF4-FFF2-40B4-BE49-F238E27FC236}">
                <a16:creationId xmlns:a16="http://schemas.microsoft.com/office/drawing/2014/main" id="{C633C16B-F10B-5A00-B9F3-9AEC02E59190}"/>
              </a:ext>
            </a:extLst>
          </p:cNvPr>
          <p:cNvSpPr txBox="1"/>
          <p:nvPr/>
        </p:nvSpPr>
        <p:spPr>
          <a:xfrm>
            <a:off x="381000" y="7184847"/>
            <a:ext cx="7296574" cy="2477345"/>
          </a:xfrm>
          <a:prstGeom prst="rect">
            <a:avLst/>
          </a:prstGeom>
        </p:spPr>
        <p:txBody>
          <a:bodyPr lIns="0" tIns="0" rIns="0" bIns="0" rtlCol="0" anchor="t">
            <a:spAutoFit/>
          </a:bodyPr>
          <a:lstStyle/>
          <a:p>
            <a:pPr>
              <a:lnSpc>
                <a:spcPts val="2299"/>
              </a:lnSpc>
              <a:spcBef>
                <a:spcPct val="0"/>
              </a:spcBef>
            </a:pPr>
            <a:r>
              <a:rPr lang="en-US" sz="2299" dirty="0">
                <a:solidFill>
                  <a:srgbClr val="FFFFFF"/>
                </a:solidFill>
                <a:latin typeface="Poppins"/>
                <a:cs typeface="Poppins"/>
              </a:rPr>
              <a:t>Stanimir Todorov: Project Lead &amp; Architect</a:t>
            </a:r>
          </a:p>
          <a:p>
            <a:pPr>
              <a:lnSpc>
                <a:spcPts val="2299"/>
              </a:lnSpc>
              <a:spcBef>
                <a:spcPct val="0"/>
              </a:spcBef>
            </a:pPr>
            <a:endParaRPr lang="en-US" sz="2299" dirty="0">
              <a:solidFill>
                <a:srgbClr val="FFFFFF"/>
              </a:solidFill>
              <a:latin typeface="Poppins"/>
              <a:cs typeface="Poppins"/>
            </a:endParaRPr>
          </a:p>
          <a:p>
            <a:pPr>
              <a:lnSpc>
                <a:spcPts val="2299"/>
              </a:lnSpc>
              <a:spcBef>
                <a:spcPct val="0"/>
              </a:spcBef>
            </a:pPr>
            <a:r>
              <a:rPr lang="en-US" sz="2299" dirty="0">
                <a:solidFill>
                  <a:srgbClr val="FFFFFF"/>
                </a:solidFill>
                <a:latin typeface="Poppins"/>
                <a:cs typeface="Poppins"/>
              </a:rPr>
              <a:t>Philip Polanco: Frontend Lead (Web Interface)</a:t>
            </a:r>
          </a:p>
          <a:p>
            <a:pPr>
              <a:lnSpc>
                <a:spcPts val="2299"/>
              </a:lnSpc>
              <a:spcBef>
                <a:spcPct val="0"/>
              </a:spcBef>
            </a:pPr>
            <a:endParaRPr lang="en-US" sz="2299" dirty="0">
              <a:solidFill>
                <a:srgbClr val="FFFFFF"/>
              </a:solidFill>
              <a:latin typeface="Poppins"/>
              <a:cs typeface="Poppins"/>
            </a:endParaRPr>
          </a:p>
          <a:p>
            <a:pPr>
              <a:lnSpc>
                <a:spcPts val="2299"/>
              </a:lnSpc>
              <a:spcBef>
                <a:spcPct val="0"/>
              </a:spcBef>
            </a:pPr>
            <a:r>
              <a:rPr lang="en-US" sz="2299" dirty="0">
                <a:solidFill>
                  <a:srgbClr val="FFFFFF"/>
                </a:solidFill>
                <a:latin typeface="Poppins"/>
                <a:cs typeface="Poppins"/>
              </a:rPr>
              <a:t>Mohamad </a:t>
            </a:r>
            <a:r>
              <a:rPr lang="en-US" sz="2299" dirty="0" err="1">
                <a:solidFill>
                  <a:srgbClr val="FFFFFF"/>
                </a:solidFill>
                <a:latin typeface="Poppins"/>
                <a:cs typeface="Poppins"/>
              </a:rPr>
              <a:t>Alkary</a:t>
            </a:r>
            <a:r>
              <a:rPr lang="en-US" sz="2299" dirty="0">
                <a:solidFill>
                  <a:srgbClr val="FFFFFF"/>
                </a:solidFill>
                <a:latin typeface="Poppins"/>
                <a:cs typeface="Poppins"/>
              </a:rPr>
              <a:t>: Backend Engineer (C++ Logic)</a:t>
            </a:r>
          </a:p>
          <a:p>
            <a:pPr>
              <a:lnSpc>
                <a:spcPts val="2299"/>
              </a:lnSpc>
              <a:spcBef>
                <a:spcPct val="0"/>
              </a:spcBef>
            </a:pPr>
            <a:endParaRPr lang="en-US" sz="2299" dirty="0">
              <a:solidFill>
                <a:srgbClr val="FFFFFF"/>
              </a:solidFill>
              <a:latin typeface="Poppins"/>
              <a:cs typeface="Poppins"/>
            </a:endParaRPr>
          </a:p>
          <a:p>
            <a:r>
              <a:rPr lang="en-US" sz="2299" dirty="0">
                <a:solidFill>
                  <a:srgbClr val="FFFFFF"/>
                </a:solidFill>
                <a:latin typeface="Poppins"/>
                <a:cs typeface="Poppins"/>
              </a:rPr>
              <a:t>Kaleb Yang: Microservices Engineer (Java Notifications)</a:t>
            </a:r>
            <a:endParaRPr lang="en-US" sz="2299" dirty="0">
              <a:solidFill>
                <a:srgbClr val="FFFFFF"/>
              </a:solidFill>
              <a:latin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31B3A"/>
        </a:solidFill>
        <a:effectLst/>
      </p:bgPr>
    </p:bg>
    <p:spTree>
      <p:nvGrpSpPr>
        <p:cNvPr id="1" name=""/>
        <p:cNvGrpSpPr/>
        <p:nvPr/>
      </p:nvGrpSpPr>
      <p:grpSpPr>
        <a:xfrm>
          <a:off x="0" y="0"/>
          <a:ext cx="0" cy="0"/>
          <a:chOff x="0" y="0"/>
          <a:chExt cx="0" cy="0"/>
        </a:xfrm>
      </p:grpSpPr>
      <p:sp>
        <p:nvSpPr>
          <p:cNvPr id="2" name="Freeform 2"/>
          <p:cNvSpPr/>
          <p:nvPr/>
        </p:nvSpPr>
        <p:spPr>
          <a:xfrm flipH="1">
            <a:off x="13551407" y="8525434"/>
            <a:ext cx="4736593" cy="2889322"/>
          </a:xfrm>
          <a:custGeom>
            <a:avLst/>
            <a:gdLst/>
            <a:ahLst/>
            <a:cxnLst/>
            <a:rect l="l" t="t" r="r" b="b"/>
            <a:pathLst>
              <a:path w="4736593" h="2889322">
                <a:moveTo>
                  <a:pt x="4736593" y="0"/>
                </a:moveTo>
                <a:lnTo>
                  <a:pt x="0" y="0"/>
                </a:lnTo>
                <a:lnTo>
                  <a:pt x="0" y="2889322"/>
                </a:lnTo>
                <a:lnTo>
                  <a:pt x="4736593" y="2889322"/>
                </a:lnTo>
                <a:lnTo>
                  <a:pt x="4736593"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V="1">
            <a:off x="-1598042" y="-2181080"/>
            <a:ext cx="9367640" cy="5714260"/>
          </a:xfrm>
          <a:custGeom>
            <a:avLst/>
            <a:gdLst/>
            <a:ahLst/>
            <a:cxnLst/>
            <a:rect l="l" t="t" r="r" b="b"/>
            <a:pathLst>
              <a:path w="9367640" h="5714260">
                <a:moveTo>
                  <a:pt x="0" y="5714260"/>
                </a:moveTo>
                <a:lnTo>
                  <a:pt x="9367639" y="5714260"/>
                </a:lnTo>
                <a:lnTo>
                  <a:pt x="9367639" y="0"/>
                </a:lnTo>
                <a:lnTo>
                  <a:pt x="0" y="0"/>
                </a:lnTo>
                <a:lnTo>
                  <a:pt x="0" y="5714260"/>
                </a:lnTo>
                <a:close/>
              </a:path>
            </a:pathLst>
          </a:custGeom>
          <a:blipFill>
            <a:blip r:embed="rId2">
              <a:alphaModFix amt="65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a:off x="15087276" y="1028700"/>
            <a:ext cx="2172024" cy="855235"/>
          </a:xfrm>
          <a:custGeom>
            <a:avLst/>
            <a:gdLst/>
            <a:ahLst/>
            <a:cxnLst/>
            <a:rect l="l" t="t" r="r" b="b"/>
            <a:pathLst>
              <a:path w="2172024" h="855235">
                <a:moveTo>
                  <a:pt x="0" y="0"/>
                </a:moveTo>
                <a:lnTo>
                  <a:pt x="2172024" y="0"/>
                </a:lnTo>
                <a:lnTo>
                  <a:pt x="2172024" y="855235"/>
                </a:lnTo>
                <a:lnTo>
                  <a:pt x="0" y="8552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5" name="TextBox 15"/>
          <p:cNvSpPr txBox="1"/>
          <p:nvPr/>
        </p:nvSpPr>
        <p:spPr>
          <a:xfrm>
            <a:off x="930546" y="2104964"/>
            <a:ext cx="13242654" cy="1061894"/>
          </a:xfrm>
          <a:prstGeom prst="rect">
            <a:avLst/>
          </a:prstGeom>
        </p:spPr>
        <p:txBody>
          <a:bodyPr wrap="square" lIns="0" tIns="0" rIns="0" bIns="0" rtlCol="0" anchor="t">
            <a:spAutoFit/>
          </a:bodyPr>
          <a:lstStyle/>
          <a:p>
            <a:pPr>
              <a:lnSpc>
                <a:spcPts val="7852"/>
              </a:lnSpc>
            </a:pPr>
            <a:r>
              <a:rPr lang="en-US" sz="7852" b="1" dirty="0">
                <a:solidFill>
                  <a:srgbClr val="FFFFFF"/>
                </a:solidFill>
                <a:latin typeface="Garet Bold"/>
              </a:rPr>
              <a:t>The Business Problem</a:t>
            </a:r>
            <a:endParaRPr lang="en-US" sz="7852" b="1" dirty="0">
              <a:solidFill>
                <a:srgbClr val="FFFFFF"/>
              </a:solidFill>
              <a:latin typeface="Garet Bold"/>
              <a:sym typeface="Garet Bold"/>
            </a:endParaRPr>
          </a:p>
        </p:txBody>
      </p:sp>
      <p:sp>
        <p:nvSpPr>
          <p:cNvPr id="16" name="TextBox 16"/>
          <p:cNvSpPr txBox="1"/>
          <p:nvPr/>
        </p:nvSpPr>
        <p:spPr>
          <a:xfrm>
            <a:off x="930546" y="3453365"/>
            <a:ext cx="16214454" cy="6939977"/>
          </a:xfrm>
          <a:prstGeom prst="rect">
            <a:avLst/>
          </a:prstGeom>
        </p:spPr>
        <p:txBody>
          <a:bodyPr wrap="square" lIns="0" tIns="0" rIns="0" bIns="0" rtlCol="0" anchor="t">
            <a:spAutoFit/>
          </a:bodyPr>
          <a:lstStyle/>
          <a:p>
            <a:pPr lvl="0">
              <a:lnSpc>
                <a:spcPct val="250000"/>
              </a:lnSpc>
            </a:pPr>
            <a:r>
              <a:rPr lang="en-US" sz="2299" dirty="0">
                <a:solidFill>
                  <a:srgbClr val="FFFFFF"/>
                </a:solidFill>
                <a:latin typeface="Poppins"/>
                <a:cs typeface="Poppins"/>
              </a:rPr>
              <a:t>The Situation:.</a:t>
            </a:r>
            <a:r>
              <a:rPr lang="en-US" sz="2000" dirty="0">
                <a:latin typeface="Poppins" panose="020B0502040204020203" pitchFamily="2" charset="0"/>
                <a:cs typeface="Poppins" panose="020B0502040204020203" pitchFamily="2" charset="0"/>
              </a:rPr>
              <a:t> </a:t>
            </a:r>
            <a:r>
              <a:rPr lang="en-US" sz="2300" dirty="0">
                <a:solidFill>
                  <a:schemeClr val="bg1"/>
                </a:solidFill>
                <a:latin typeface="Poppins" panose="020B0502040204020203" pitchFamily="2" charset="0"/>
                <a:cs typeface="Poppins" panose="020B0502040204020203" pitchFamily="2" charset="0"/>
              </a:rPr>
              <a:t>Facilities departments receive 200–500 maintenance requests per week, overwhelming current manual processes.</a:t>
            </a:r>
            <a:endParaRPr lang="en-US" sz="2300" dirty="0">
              <a:solidFill>
                <a:schemeClr val="bg1"/>
              </a:solidFill>
              <a:latin typeface="Poppins"/>
              <a:cs typeface="Poppins"/>
            </a:endParaRPr>
          </a:p>
          <a:p>
            <a:pPr lvl="0">
              <a:lnSpc>
                <a:spcPct val="250000"/>
              </a:lnSpc>
            </a:pPr>
            <a:r>
              <a:rPr lang="en-US" sz="2299" dirty="0">
                <a:solidFill>
                  <a:srgbClr val="FFFFFF"/>
                </a:solidFill>
                <a:latin typeface="Poppins"/>
                <a:cs typeface="Poppins"/>
              </a:rPr>
              <a:t>The Pain Point: </a:t>
            </a:r>
            <a:r>
              <a:rPr lang="en-US" sz="2300" dirty="0">
                <a:solidFill>
                  <a:schemeClr val="bg1"/>
                </a:solidFill>
                <a:latin typeface="Poppins" panose="00000500000000000000" pitchFamily="2" charset="0"/>
                <a:cs typeface="Poppins" panose="00000500000000000000" pitchFamily="2" charset="0"/>
              </a:rPr>
              <a:t>Requests are scattered across emails, phone calls, and handwritten notes, causing lost tickets and delayed responses.</a:t>
            </a:r>
          </a:p>
          <a:p>
            <a:pPr lvl="0">
              <a:lnSpc>
                <a:spcPct val="250000"/>
              </a:lnSpc>
            </a:pPr>
            <a:r>
              <a:rPr lang="en-US" sz="2299" dirty="0">
                <a:solidFill>
                  <a:srgbClr val="FFFFFF"/>
                </a:solidFill>
                <a:latin typeface="Poppins"/>
                <a:cs typeface="Poppins"/>
              </a:rPr>
              <a:t>The Critical Failure: </a:t>
            </a:r>
            <a:r>
              <a:rPr lang="en-US" sz="2300" dirty="0">
                <a:solidFill>
                  <a:schemeClr val="bg1"/>
                </a:solidFill>
                <a:latin typeface="Poppins" panose="00000500000000000000" pitchFamily="2" charset="0"/>
                <a:cs typeface="Poppins" panose="00000500000000000000" pitchFamily="2" charset="0"/>
              </a:rPr>
              <a:t>There is no automated prioritization, meaning emergency issues compete with minor repairs.</a:t>
            </a:r>
          </a:p>
          <a:p>
            <a:pPr lvl="0">
              <a:lnSpc>
                <a:spcPct val="250000"/>
              </a:lnSpc>
            </a:pPr>
            <a:r>
              <a:rPr lang="en-US" sz="2299" dirty="0">
                <a:solidFill>
                  <a:srgbClr val="FFFFFF"/>
                </a:solidFill>
                <a:latin typeface="Poppins"/>
                <a:cs typeface="Poppins"/>
              </a:rPr>
              <a:t>Result: </a:t>
            </a:r>
            <a:r>
              <a:rPr lang="en-US" sz="2300" dirty="0">
                <a:solidFill>
                  <a:schemeClr val="bg1"/>
                </a:solidFill>
                <a:latin typeface="Poppins" panose="00000500000000000000" pitchFamily="2" charset="0"/>
                <a:cs typeface="Poppins" panose="00000500000000000000" pitchFamily="2" charset="0"/>
              </a:rPr>
              <a:t>Increased safety risks, poor accountability, and slow service delivery.</a:t>
            </a:r>
          </a:p>
          <a:p>
            <a:pPr algn="l">
              <a:lnSpc>
                <a:spcPct val="250000"/>
              </a:lnSpc>
            </a:pPr>
            <a:endParaRPr lang="en-US" sz="2299" dirty="0">
              <a:solidFill>
                <a:srgbClr val="FFFFFF"/>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31B3A"/>
        </a:solidFill>
        <a:effectLst/>
      </p:bgPr>
    </p:bg>
    <p:spTree>
      <p:nvGrpSpPr>
        <p:cNvPr id="1" name="">
          <a:extLst>
            <a:ext uri="{FF2B5EF4-FFF2-40B4-BE49-F238E27FC236}">
              <a16:creationId xmlns:a16="http://schemas.microsoft.com/office/drawing/2014/main" id="{66085CF5-A82B-E499-ACB5-EE97FB24A07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EBA0942-03F2-0ADC-FBE5-0213337C56FE}"/>
              </a:ext>
            </a:extLst>
          </p:cNvPr>
          <p:cNvSpPr/>
          <p:nvPr/>
        </p:nvSpPr>
        <p:spPr>
          <a:xfrm flipH="1">
            <a:off x="13551407" y="8525434"/>
            <a:ext cx="4736593" cy="2889322"/>
          </a:xfrm>
          <a:custGeom>
            <a:avLst/>
            <a:gdLst/>
            <a:ahLst/>
            <a:cxnLst/>
            <a:rect l="l" t="t" r="r" b="b"/>
            <a:pathLst>
              <a:path w="4736593" h="2889322">
                <a:moveTo>
                  <a:pt x="4736593" y="0"/>
                </a:moveTo>
                <a:lnTo>
                  <a:pt x="0" y="0"/>
                </a:lnTo>
                <a:lnTo>
                  <a:pt x="0" y="2889322"/>
                </a:lnTo>
                <a:lnTo>
                  <a:pt x="4736593" y="2889322"/>
                </a:lnTo>
                <a:lnTo>
                  <a:pt x="4736593"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63D53F6E-48BA-90A4-62F8-B1A9C529CB8B}"/>
              </a:ext>
            </a:extLst>
          </p:cNvPr>
          <p:cNvSpPr/>
          <p:nvPr/>
        </p:nvSpPr>
        <p:spPr>
          <a:xfrm flipV="1">
            <a:off x="-1598042" y="-2181080"/>
            <a:ext cx="9367640" cy="5714260"/>
          </a:xfrm>
          <a:custGeom>
            <a:avLst/>
            <a:gdLst/>
            <a:ahLst/>
            <a:cxnLst/>
            <a:rect l="l" t="t" r="r" b="b"/>
            <a:pathLst>
              <a:path w="9367640" h="5714260">
                <a:moveTo>
                  <a:pt x="0" y="5714260"/>
                </a:moveTo>
                <a:lnTo>
                  <a:pt x="9367639" y="5714260"/>
                </a:lnTo>
                <a:lnTo>
                  <a:pt x="9367639" y="0"/>
                </a:lnTo>
                <a:lnTo>
                  <a:pt x="0" y="0"/>
                </a:lnTo>
                <a:lnTo>
                  <a:pt x="0" y="5714260"/>
                </a:lnTo>
                <a:close/>
              </a:path>
            </a:pathLst>
          </a:custGeom>
          <a:blipFill>
            <a:blip r:embed="rId2">
              <a:alphaModFix amt="65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a:extLst>
              <a:ext uri="{FF2B5EF4-FFF2-40B4-BE49-F238E27FC236}">
                <a16:creationId xmlns:a16="http://schemas.microsoft.com/office/drawing/2014/main" id="{F3D90593-7DFB-4EBF-AA66-621D9B6DD637}"/>
              </a:ext>
            </a:extLst>
          </p:cNvPr>
          <p:cNvSpPr/>
          <p:nvPr/>
        </p:nvSpPr>
        <p:spPr>
          <a:xfrm>
            <a:off x="15087276" y="1028700"/>
            <a:ext cx="2172024" cy="855235"/>
          </a:xfrm>
          <a:custGeom>
            <a:avLst/>
            <a:gdLst/>
            <a:ahLst/>
            <a:cxnLst/>
            <a:rect l="l" t="t" r="r" b="b"/>
            <a:pathLst>
              <a:path w="2172024" h="855235">
                <a:moveTo>
                  <a:pt x="0" y="0"/>
                </a:moveTo>
                <a:lnTo>
                  <a:pt x="2172024" y="0"/>
                </a:lnTo>
                <a:lnTo>
                  <a:pt x="2172024" y="855235"/>
                </a:lnTo>
                <a:lnTo>
                  <a:pt x="0" y="8552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5" name="TextBox 15">
            <a:extLst>
              <a:ext uri="{FF2B5EF4-FFF2-40B4-BE49-F238E27FC236}">
                <a16:creationId xmlns:a16="http://schemas.microsoft.com/office/drawing/2014/main" id="{A3BEEB97-444D-6A30-CDFA-16159A20A543}"/>
              </a:ext>
            </a:extLst>
          </p:cNvPr>
          <p:cNvSpPr txBox="1"/>
          <p:nvPr/>
        </p:nvSpPr>
        <p:spPr>
          <a:xfrm>
            <a:off x="930546" y="2104964"/>
            <a:ext cx="13242654" cy="1061894"/>
          </a:xfrm>
          <a:prstGeom prst="rect">
            <a:avLst/>
          </a:prstGeom>
        </p:spPr>
        <p:txBody>
          <a:bodyPr wrap="square" lIns="0" tIns="0" rIns="0" bIns="0" rtlCol="0" anchor="t">
            <a:spAutoFit/>
          </a:bodyPr>
          <a:lstStyle/>
          <a:p>
            <a:pPr>
              <a:lnSpc>
                <a:spcPts val="7852"/>
              </a:lnSpc>
            </a:pPr>
            <a:r>
              <a:rPr lang="en-US" sz="7852" b="1" dirty="0">
                <a:solidFill>
                  <a:srgbClr val="FFFFFF"/>
                </a:solidFill>
                <a:latin typeface="Garet Bold"/>
              </a:rPr>
              <a:t>The Solution </a:t>
            </a:r>
            <a:endParaRPr lang="en-US" sz="7852" b="1" dirty="0">
              <a:solidFill>
                <a:srgbClr val="FFFFFF"/>
              </a:solidFill>
              <a:latin typeface="Garet Bold"/>
              <a:sym typeface="Garet Bold"/>
            </a:endParaRPr>
          </a:p>
        </p:txBody>
      </p:sp>
      <p:sp>
        <p:nvSpPr>
          <p:cNvPr id="16" name="TextBox 16">
            <a:extLst>
              <a:ext uri="{FF2B5EF4-FFF2-40B4-BE49-F238E27FC236}">
                <a16:creationId xmlns:a16="http://schemas.microsoft.com/office/drawing/2014/main" id="{355BDF25-B755-07EB-A7C9-A3A7343260A3}"/>
              </a:ext>
            </a:extLst>
          </p:cNvPr>
          <p:cNvSpPr txBox="1"/>
          <p:nvPr/>
        </p:nvSpPr>
        <p:spPr>
          <a:xfrm>
            <a:off x="930546" y="2552700"/>
            <a:ext cx="15757254" cy="7379969"/>
          </a:xfrm>
          <a:prstGeom prst="rect">
            <a:avLst/>
          </a:prstGeom>
        </p:spPr>
        <p:txBody>
          <a:bodyPr wrap="square" lIns="0" tIns="0" rIns="0" bIns="0" rtlCol="0" anchor="t">
            <a:spAutoFit/>
          </a:bodyPr>
          <a:lstStyle/>
          <a:p>
            <a:pPr algn="l">
              <a:lnSpc>
                <a:spcPct val="150000"/>
              </a:lnSpc>
            </a:pPr>
            <a:endParaRPr lang="en-US" sz="2299" dirty="0">
              <a:solidFill>
                <a:srgbClr val="FFFFFF"/>
              </a:solidFill>
              <a:latin typeface="Poppins"/>
              <a:ea typeface="Poppins"/>
              <a:cs typeface="Poppins"/>
              <a:sym typeface="Poppins"/>
            </a:endParaRPr>
          </a:p>
          <a:p>
            <a:pPr lvl="0">
              <a:lnSpc>
                <a:spcPct val="150000"/>
              </a:lnSpc>
            </a:pPr>
            <a:r>
              <a:rPr lang="en-US" sz="2299" dirty="0">
                <a:solidFill>
                  <a:srgbClr val="FFFFFF"/>
                </a:solidFill>
                <a:latin typeface="Poppins"/>
                <a:cs typeface="Poppins"/>
              </a:rPr>
              <a:t>Mohamad and Kaleb </a:t>
            </a:r>
          </a:p>
          <a:p>
            <a:pPr lvl="0">
              <a:lnSpc>
                <a:spcPct val="150000"/>
              </a:lnSpc>
            </a:pPr>
            <a:endParaRPr lang="en-US" sz="2299" dirty="0">
              <a:solidFill>
                <a:srgbClr val="FFFFFF"/>
              </a:solidFill>
              <a:latin typeface="Poppins"/>
              <a:cs typeface="Poppins"/>
            </a:endParaRPr>
          </a:p>
          <a:p>
            <a:pPr lvl="0">
              <a:lnSpc>
                <a:spcPct val="150000"/>
              </a:lnSpc>
            </a:pPr>
            <a:r>
              <a:rPr lang="en-US" sz="2299" dirty="0">
                <a:solidFill>
                  <a:srgbClr val="FFFFFF"/>
                </a:solidFill>
                <a:latin typeface="Poppins"/>
                <a:cs typeface="Poppins"/>
              </a:rPr>
              <a:t>The Ecosystem:</a:t>
            </a:r>
          </a:p>
          <a:p>
            <a:pPr lvl="0">
              <a:lnSpc>
                <a:spcPct val="150000"/>
              </a:lnSpc>
            </a:pPr>
            <a:r>
              <a:rPr lang="en-US" sz="2299" dirty="0">
                <a:solidFill>
                  <a:srgbClr val="FFFFFF"/>
                </a:solidFill>
                <a:latin typeface="Poppins"/>
                <a:cs typeface="Poppins"/>
              </a:rPr>
              <a:t>A polyglot system (different components build using different technologies, programming languages, databases choosing the best that fits)centered around a shared MySQL Database.</a:t>
            </a:r>
          </a:p>
          <a:p>
            <a:pPr lvl="0">
              <a:lnSpc>
                <a:spcPct val="150000"/>
              </a:lnSpc>
            </a:pPr>
            <a:r>
              <a:rPr lang="en-US" sz="2299" dirty="0">
                <a:solidFill>
                  <a:srgbClr val="FFFFFF"/>
                </a:solidFill>
                <a:latin typeface="Poppins"/>
                <a:cs typeface="Poppins"/>
              </a:rPr>
              <a:t>1. Web Portal (HTML + PHP): Allows students to submit digital tickets instantly.</a:t>
            </a:r>
          </a:p>
          <a:p>
            <a:pPr lvl="0">
              <a:lnSpc>
                <a:spcPct val="150000"/>
              </a:lnSpc>
            </a:pPr>
            <a:r>
              <a:rPr lang="en-US" sz="2299" dirty="0">
                <a:solidFill>
                  <a:srgbClr val="FFFFFF"/>
                </a:solidFill>
                <a:latin typeface="Poppins"/>
                <a:cs typeface="Poppins"/>
              </a:rPr>
              <a:t>2. Priority Engine (C++): A background logic engine that automatically calculates urgency scores (Severity x Criticality).</a:t>
            </a:r>
          </a:p>
          <a:p>
            <a:pPr lvl="0">
              <a:lnSpc>
                <a:spcPct val="150000"/>
              </a:lnSpc>
            </a:pPr>
            <a:r>
              <a:rPr lang="en-US" sz="2299" dirty="0">
                <a:solidFill>
                  <a:srgbClr val="FFFFFF"/>
                </a:solidFill>
                <a:latin typeface="Poppins"/>
                <a:cs typeface="Poppins"/>
              </a:rPr>
              <a:t>3. Watchdog Service (Java): A standalone microservice that monitors the database 24/7.</a:t>
            </a:r>
          </a:p>
          <a:p>
            <a:pPr lvl="0">
              <a:lnSpc>
                <a:spcPct val="150000"/>
              </a:lnSpc>
            </a:pPr>
            <a:r>
              <a:rPr lang="en-US" sz="2299" dirty="0">
                <a:solidFill>
                  <a:srgbClr val="FFFFFF"/>
                </a:solidFill>
                <a:latin typeface="Poppins"/>
                <a:cs typeface="Poppins"/>
              </a:rPr>
              <a:t>Key Benefit: This creates a safety net. Even if the web server is busy, the Java Watchdog detects emergencies immediately.</a:t>
            </a:r>
          </a:p>
          <a:p>
            <a:pPr lvl="0">
              <a:lnSpc>
                <a:spcPct val="150000"/>
              </a:lnSpc>
            </a:pPr>
            <a:endParaRPr lang="en-US" sz="2299" dirty="0">
              <a:solidFill>
                <a:srgbClr val="FFFFFF"/>
              </a:solidFill>
              <a:latin typeface="Poppins"/>
              <a:cs typeface="Poppins"/>
            </a:endParaRPr>
          </a:p>
          <a:p>
            <a:pPr algn="l">
              <a:lnSpc>
                <a:spcPct val="150000"/>
              </a:lnSpc>
            </a:pPr>
            <a:endParaRPr lang="en-US" sz="2299" dirty="0">
              <a:solidFill>
                <a:srgbClr val="FFFFFF"/>
              </a:solidFill>
              <a:latin typeface="Poppins"/>
              <a:ea typeface="Poppins"/>
              <a:cs typeface="Poppins"/>
              <a:sym typeface="Poppins"/>
            </a:endParaRPr>
          </a:p>
        </p:txBody>
      </p:sp>
    </p:spTree>
    <p:extLst>
      <p:ext uri="{BB962C8B-B14F-4D97-AF65-F5344CB8AC3E}">
        <p14:creationId xmlns:p14="http://schemas.microsoft.com/office/powerpoint/2010/main" val="936758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31B3A"/>
        </a:solidFill>
        <a:effectLst/>
      </p:bgPr>
    </p:bg>
    <p:spTree>
      <p:nvGrpSpPr>
        <p:cNvPr id="1" name="">
          <a:extLst>
            <a:ext uri="{FF2B5EF4-FFF2-40B4-BE49-F238E27FC236}">
              <a16:creationId xmlns:a16="http://schemas.microsoft.com/office/drawing/2014/main" id="{382E4110-F4FA-A8AA-E6A6-01FE340A33B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E33BDE1-2168-3B4F-D52C-D408F6D841FB}"/>
              </a:ext>
            </a:extLst>
          </p:cNvPr>
          <p:cNvSpPr/>
          <p:nvPr/>
        </p:nvSpPr>
        <p:spPr>
          <a:xfrm flipH="1">
            <a:off x="13551407" y="8525434"/>
            <a:ext cx="4736593" cy="2889322"/>
          </a:xfrm>
          <a:custGeom>
            <a:avLst/>
            <a:gdLst/>
            <a:ahLst/>
            <a:cxnLst/>
            <a:rect l="l" t="t" r="r" b="b"/>
            <a:pathLst>
              <a:path w="4736593" h="2889322">
                <a:moveTo>
                  <a:pt x="4736593" y="0"/>
                </a:moveTo>
                <a:lnTo>
                  <a:pt x="0" y="0"/>
                </a:lnTo>
                <a:lnTo>
                  <a:pt x="0" y="2889322"/>
                </a:lnTo>
                <a:lnTo>
                  <a:pt x="4736593" y="2889322"/>
                </a:lnTo>
                <a:lnTo>
                  <a:pt x="4736593"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DE2CA754-BED0-2D86-E893-D65341EE1253}"/>
              </a:ext>
            </a:extLst>
          </p:cNvPr>
          <p:cNvSpPr/>
          <p:nvPr/>
        </p:nvSpPr>
        <p:spPr>
          <a:xfrm flipV="1">
            <a:off x="-1598042" y="-2181080"/>
            <a:ext cx="9367640" cy="5714260"/>
          </a:xfrm>
          <a:custGeom>
            <a:avLst/>
            <a:gdLst/>
            <a:ahLst/>
            <a:cxnLst/>
            <a:rect l="l" t="t" r="r" b="b"/>
            <a:pathLst>
              <a:path w="9367640" h="5714260">
                <a:moveTo>
                  <a:pt x="0" y="5714260"/>
                </a:moveTo>
                <a:lnTo>
                  <a:pt x="9367639" y="5714260"/>
                </a:lnTo>
                <a:lnTo>
                  <a:pt x="9367639" y="0"/>
                </a:lnTo>
                <a:lnTo>
                  <a:pt x="0" y="0"/>
                </a:lnTo>
                <a:lnTo>
                  <a:pt x="0" y="5714260"/>
                </a:lnTo>
                <a:close/>
              </a:path>
            </a:pathLst>
          </a:custGeom>
          <a:blipFill>
            <a:blip r:embed="rId2">
              <a:alphaModFix amt="65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a:extLst>
              <a:ext uri="{FF2B5EF4-FFF2-40B4-BE49-F238E27FC236}">
                <a16:creationId xmlns:a16="http://schemas.microsoft.com/office/drawing/2014/main" id="{E22A87D2-3C82-8FC2-275A-1B870DA618B4}"/>
              </a:ext>
            </a:extLst>
          </p:cNvPr>
          <p:cNvSpPr/>
          <p:nvPr/>
        </p:nvSpPr>
        <p:spPr>
          <a:xfrm>
            <a:off x="15087276" y="1028700"/>
            <a:ext cx="2172024" cy="855235"/>
          </a:xfrm>
          <a:custGeom>
            <a:avLst/>
            <a:gdLst/>
            <a:ahLst/>
            <a:cxnLst/>
            <a:rect l="l" t="t" r="r" b="b"/>
            <a:pathLst>
              <a:path w="2172024" h="855235">
                <a:moveTo>
                  <a:pt x="0" y="0"/>
                </a:moveTo>
                <a:lnTo>
                  <a:pt x="2172024" y="0"/>
                </a:lnTo>
                <a:lnTo>
                  <a:pt x="2172024" y="855235"/>
                </a:lnTo>
                <a:lnTo>
                  <a:pt x="0" y="8552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5" name="TextBox 15">
            <a:extLst>
              <a:ext uri="{FF2B5EF4-FFF2-40B4-BE49-F238E27FC236}">
                <a16:creationId xmlns:a16="http://schemas.microsoft.com/office/drawing/2014/main" id="{A2766ECF-099D-C9D4-5A37-D8F0769F9CC1}"/>
              </a:ext>
            </a:extLst>
          </p:cNvPr>
          <p:cNvSpPr txBox="1"/>
          <p:nvPr/>
        </p:nvSpPr>
        <p:spPr>
          <a:xfrm>
            <a:off x="930546" y="2104964"/>
            <a:ext cx="13242654" cy="1061894"/>
          </a:xfrm>
          <a:prstGeom prst="rect">
            <a:avLst/>
          </a:prstGeom>
        </p:spPr>
        <p:txBody>
          <a:bodyPr wrap="square" lIns="0" tIns="0" rIns="0" bIns="0" rtlCol="0" anchor="t">
            <a:spAutoFit/>
          </a:bodyPr>
          <a:lstStyle/>
          <a:p>
            <a:pPr>
              <a:lnSpc>
                <a:spcPts val="7852"/>
              </a:lnSpc>
            </a:pPr>
            <a:r>
              <a:rPr lang="en-US" sz="7852" b="1" dirty="0">
                <a:solidFill>
                  <a:srgbClr val="FFFFFF"/>
                </a:solidFill>
                <a:latin typeface="Garet Bold"/>
              </a:rPr>
              <a:t>Technology Architecture  </a:t>
            </a:r>
            <a:endParaRPr lang="en-US" sz="7852" b="1" dirty="0">
              <a:solidFill>
                <a:srgbClr val="FFFFFF"/>
              </a:solidFill>
              <a:latin typeface="Garet Bold"/>
              <a:sym typeface="Garet Bold"/>
            </a:endParaRPr>
          </a:p>
        </p:txBody>
      </p:sp>
      <p:sp>
        <p:nvSpPr>
          <p:cNvPr id="16" name="TextBox 16">
            <a:extLst>
              <a:ext uri="{FF2B5EF4-FFF2-40B4-BE49-F238E27FC236}">
                <a16:creationId xmlns:a16="http://schemas.microsoft.com/office/drawing/2014/main" id="{5FFC3CFE-8FBA-6DA6-BF3C-A512938DDE76}"/>
              </a:ext>
            </a:extLst>
          </p:cNvPr>
          <p:cNvSpPr txBox="1"/>
          <p:nvPr/>
        </p:nvSpPr>
        <p:spPr>
          <a:xfrm>
            <a:off x="930546" y="2980756"/>
            <a:ext cx="15757254" cy="6274282"/>
          </a:xfrm>
          <a:prstGeom prst="rect">
            <a:avLst/>
          </a:prstGeom>
        </p:spPr>
        <p:txBody>
          <a:bodyPr wrap="square" lIns="0" tIns="0" rIns="0" bIns="0" rtlCol="0" anchor="t">
            <a:spAutoFit/>
          </a:bodyPr>
          <a:lstStyle/>
          <a:p>
            <a:pPr lvl="0">
              <a:lnSpc>
                <a:spcPct val="200000"/>
              </a:lnSpc>
            </a:pPr>
            <a:endParaRPr lang="en-US" sz="2299" dirty="0">
              <a:solidFill>
                <a:srgbClr val="FFFFFF"/>
              </a:solidFill>
              <a:latin typeface="Poppins"/>
              <a:cs typeface="Poppins"/>
            </a:endParaRPr>
          </a:p>
          <a:p>
            <a:pPr lvl="0">
              <a:lnSpc>
                <a:spcPct val="200000"/>
              </a:lnSpc>
            </a:pPr>
            <a:r>
              <a:rPr lang="en-US" sz="2299" dirty="0">
                <a:solidFill>
                  <a:srgbClr val="FFFFFF"/>
                </a:solidFill>
                <a:latin typeface="Poppins"/>
                <a:cs typeface="Poppins"/>
              </a:rPr>
              <a:t>Project Management: Framework - Hybrid Agile/Waterfall methodology with GitHub version control, MS Project planning (Gantt Charts), Teams.</a:t>
            </a:r>
          </a:p>
          <a:p>
            <a:pPr lvl="0">
              <a:lnSpc>
                <a:spcPct val="200000"/>
              </a:lnSpc>
            </a:pPr>
            <a:r>
              <a:rPr lang="en-US" sz="2299" dirty="0">
                <a:solidFill>
                  <a:srgbClr val="FFFFFF"/>
                </a:solidFill>
                <a:latin typeface="Poppins"/>
                <a:cs typeface="Poppins"/>
              </a:rPr>
              <a:t>Frontend Layer: HTML5, CSS3, Bootstrap 5. Responsive interface optimized for mobile ticket submission.</a:t>
            </a:r>
          </a:p>
          <a:p>
            <a:pPr lvl="0">
              <a:lnSpc>
                <a:spcPct val="200000"/>
              </a:lnSpc>
            </a:pPr>
            <a:r>
              <a:rPr lang="en-US" sz="2299" dirty="0">
                <a:solidFill>
                  <a:srgbClr val="FFFFFF"/>
                </a:solidFill>
                <a:latin typeface="Poppins"/>
                <a:cs typeface="Poppins"/>
              </a:rPr>
              <a:t>Backend Layer: PHP 8.2 (XAMPP environment). Handles ticket processing, validation, and system integration.</a:t>
            </a:r>
          </a:p>
          <a:p>
            <a:pPr lvl="0">
              <a:lnSpc>
                <a:spcPct val="200000"/>
              </a:lnSpc>
            </a:pPr>
            <a:r>
              <a:rPr lang="en-US" sz="2299" dirty="0">
                <a:solidFill>
                  <a:srgbClr val="FFFFFF"/>
                </a:solidFill>
                <a:latin typeface="Poppins"/>
                <a:cs typeface="Poppins"/>
              </a:rPr>
              <a:t>Advanced Logic Services: C++ priority algorithms for request ranking. Java notification services for automated alerts.</a:t>
            </a:r>
          </a:p>
          <a:p>
            <a:pPr lvl="0">
              <a:lnSpc>
                <a:spcPct val="200000"/>
              </a:lnSpc>
            </a:pPr>
            <a:r>
              <a:rPr lang="en-US" sz="2299" dirty="0">
                <a:solidFill>
                  <a:srgbClr val="FFFFFF"/>
                </a:solidFill>
                <a:latin typeface="Poppins"/>
                <a:cs typeface="Poppins"/>
              </a:rPr>
              <a:t>Database Layer: MySQL 8.0. Structured ticket storage and reporting.</a:t>
            </a:r>
          </a:p>
          <a:p>
            <a:pPr lvl="0">
              <a:lnSpc>
                <a:spcPct val="200000"/>
              </a:lnSpc>
            </a:pPr>
            <a:r>
              <a:rPr lang="en-US" sz="2300" dirty="0">
                <a:solidFill>
                  <a:schemeClr val="bg1"/>
                </a:solidFill>
                <a:latin typeface="Poppins" panose="00000500000000000000" pitchFamily="2" charset="0"/>
                <a:cs typeface="Poppins" panose="00000500000000000000" pitchFamily="2" charset="0"/>
              </a:rPr>
              <a:t>Architecture designed for scalability, reliability, and future campus-wide deployment.</a:t>
            </a:r>
          </a:p>
        </p:txBody>
      </p:sp>
    </p:spTree>
    <p:extLst>
      <p:ext uri="{BB962C8B-B14F-4D97-AF65-F5344CB8AC3E}">
        <p14:creationId xmlns:p14="http://schemas.microsoft.com/office/powerpoint/2010/main" val="1078633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31B3A"/>
        </a:solidFill>
        <a:effectLst/>
      </p:bgPr>
    </p:bg>
    <p:spTree>
      <p:nvGrpSpPr>
        <p:cNvPr id="1" name="">
          <a:extLst>
            <a:ext uri="{FF2B5EF4-FFF2-40B4-BE49-F238E27FC236}">
              <a16:creationId xmlns:a16="http://schemas.microsoft.com/office/drawing/2014/main" id="{2EFB7EAA-0858-BC62-3F48-6ABFDEBB02E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D3DE096-92F5-5634-1D9F-AE03AD048EDF}"/>
              </a:ext>
            </a:extLst>
          </p:cNvPr>
          <p:cNvSpPr/>
          <p:nvPr/>
        </p:nvSpPr>
        <p:spPr>
          <a:xfrm flipH="1">
            <a:off x="13551407" y="8525434"/>
            <a:ext cx="4736593" cy="2889322"/>
          </a:xfrm>
          <a:custGeom>
            <a:avLst/>
            <a:gdLst/>
            <a:ahLst/>
            <a:cxnLst/>
            <a:rect l="l" t="t" r="r" b="b"/>
            <a:pathLst>
              <a:path w="4736593" h="2889322">
                <a:moveTo>
                  <a:pt x="4736593" y="0"/>
                </a:moveTo>
                <a:lnTo>
                  <a:pt x="0" y="0"/>
                </a:lnTo>
                <a:lnTo>
                  <a:pt x="0" y="2889322"/>
                </a:lnTo>
                <a:lnTo>
                  <a:pt x="4736593" y="2889322"/>
                </a:lnTo>
                <a:lnTo>
                  <a:pt x="4736593"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0466E49D-AF2A-35A0-3970-7FC2F221CA6D}"/>
              </a:ext>
            </a:extLst>
          </p:cNvPr>
          <p:cNvSpPr/>
          <p:nvPr/>
        </p:nvSpPr>
        <p:spPr>
          <a:xfrm flipV="1">
            <a:off x="-1598042" y="-2181080"/>
            <a:ext cx="9367640" cy="5714260"/>
          </a:xfrm>
          <a:custGeom>
            <a:avLst/>
            <a:gdLst/>
            <a:ahLst/>
            <a:cxnLst/>
            <a:rect l="l" t="t" r="r" b="b"/>
            <a:pathLst>
              <a:path w="9367640" h="5714260">
                <a:moveTo>
                  <a:pt x="0" y="5714260"/>
                </a:moveTo>
                <a:lnTo>
                  <a:pt x="9367639" y="5714260"/>
                </a:lnTo>
                <a:lnTo>
                  <a:pt x="9367639" y="0"/>
                </a:lnTo>
                <a:lnTo>
                  <a:pt x="0" y="0"/>
                </a:lnTo>
                <a:lnTo>
                  <a:pt x="0" y="5714260"/>
                </a:lnTo>
                <a:close/>
              </a:path>
            </a:pathLst>
          </a:custGeom>
          <a:blipFill>
            <a:blip r:embed="rId2">
              <a:alphaModFix amt="65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a:extLst>
              <a:ext uri="{FF2B5EF4-FFF2-40B4-BE49-F238E27FC236}">
                <a16:creationId xmlns:a16="http://schemas.microsoft.com/office/drawing/2014/main" id="{7DAD9FD2-E05D-6AAF-EED7-49BE7E060C47}"/>
              </a:ext>
            </a:extLst>
          </p:cNvPr>
          <p:cNvSpPr/>
          <p:nvPr/>
        </p:nvSpPr>
        <p:spPr>
          <a:xfrm>
            <a:off x="15087276" y="1028700"/>
            <a:ext cx="2172024" cy="855235"/>
          </a:xfrm>
          <a:custGeom>
            <a:avLst/>
            <a:gdLst/>
            <a:ahLst/>
            <a:cxnLst/>
            <a:rect l="l" t="t" r="r" b="b"/>
            <a:pathLst>
              <a:path w="2172024" h="855235">
                <a:moveTo>
                  <a:pt x="0" y="0"/>
                </a:moveTo>
                <a:lnTo>
                  <a:pt x="2172024" y="0"/>
                </a:lnTo>
                <a:lnTo>
                  <a:pt x="2172024" y="855235"/>
                </a:lnTo>
                <a:lnTo>
                  <a:pt x="0" y="8552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5" name="TextBox 15">
            <a:extLst>
              <a:ext uri="{FF2B5EF4-FFF2-40B4-BE49-F238E27FC236}">
                <a16:creationId xmlns:a16="http://schemas.microsoft.com/office/drawing/2014/main" id="{51A004E4-3B28-2BCF-BEA0-C7DCCF1E0F24}"/>
              </a:ext>
            </a:extLst>
          </p:cNvPr>
          <p:cNvSpPr txBox="1"/>
          <p:nvPr/>
        </p:nvSpPr>
        <p:spPr>
          <a:xfrm>
            <a:off x="930546" y="2104964"/>
            <a:ext cx="13242654" cy="1061894"/>
          </a:xfrm>
          <a:prstGeom prst="rect">
            <a:avLst/>
          </a:prstGeom>
        </p:spPr>
        <p:txBody>
          <a:bodyPr wrap="square" lIns="0" tIns="0" rIns="0" bIns="0" rtlCol="0" anchor="t">
            <a:spAutoFit/>
          </a:bodyPr>
          <a:lstStyle/>
          <a:p>
            <a:pPr>
              <a:lnSpc>
                <a:spcPts val="7852"/>
              </a:lnSpc>
            </a:pPr>
            <a:r>
              <a:rPr lang="en-US" sz="7852" b="1" dirty="0">
                <a:solidFill>
                  <a:srgbClr val="FFFFFF"/>
                </a:solidFill>
                <a:latin typeface="Garet Bold"/>
              </a:rPr>
              <a:t>Project Timeline   </a:t>
            </a:r>
            <a:endParaRPr lang="en-US" sz="7852" b="1" dirty="0">
              <a:solidFill>
                <a:srgbClr val="FFFFFF"/>
              </a:solidFill>
              <a:latin typeface="Garet Bold"/>
              <a:sym typeface="Garet Bold"/>
            </a:endParaRPr>
          </a:p>
        </p:txBody>
      </p:sp>
      <p:sp>
        <p:nvSpPr>
          <p:cNvPr id="16" name="TextBox 16">
            <a:extLst>
              <a:ext uri="{FF2B5EF4-FFF2-40B4-BE49-F238E27FC236}">
                <a16:creationId xmlns:a16="http://schemas.microsoft.com/office/drawing/2014/main" id="{D3E11CDA-17B9-D8FE-9192-FAFA5744098C}"/>
              </a:ext>
            </a:extLst>
          </p:cNvPr>
          <p:cNvSpPr txBox="1"/>
          <p:nvPr/>
        </p:nvSpPr>
        <p:spPr>
          <a:xfrm>
            <a:off x="910881" y="3947357"/>
            <a:ext cx="15757254" cy="6274282"/>
          </a:xfrm>
          <a:prstGeom prst="rect">
            <a:avLst/>
          </a:prstGeom>
        </p:spPr>
        <p:txBody>
          <a:bodyPr wrap="square" lIns="0" tIns="0" rIns="0" bIns="0" rtlCol="0" anchor="t">
            <a:spAutoFit/>
          </a:bodyPr>
          <a:lstStyle/>
          <a:p>
            <a:pPr lvl="0">
              <a:lnSpc>
                <a:spcPct val="200000"/>
              </a:lnSpc>
            </a:pPr>
            <a:r>
              <a:rPr lang="en-US" sz="2299" dirty="0">
                <a:solidFill>
                  <a:srgbClr val="FFFFFF"/>
                </a:solidFill>
                <a:latin typeface="Poppins"/>
                <a:cs typeface="Poppins"/>
              </a:rPr>
              <a:t>Stan</a:t>
            </a:r>
          </a:p>
          <a:p>
            <a:pPr lvl="0">
              <a:lnSpc>
                <a:spcPct val="200000"/>
              </a:lnSpc>
            </a:pPr>
            <a:endParaRPr lang="en-US" sz="2299" dirty="0">
              <a:solidFill>
                <a:srgbClr val="FFFFFF"/>
              </a:solidFill>
              <a:latin typeface="Poppins"/>
              <a:cs typeface="Poppins"/>
            </a:endParaRPr>
          </a:p>
          <a:p>
            <a:pPr lvl="0">
              <a:lnSpc>
                <a:spcPct val="200000"/>
              </a:lnSpc>
            </a:pPr>
            <a:r>
              <a:rPr lang="en-US" sz="2299" dirty="0">
                <a:solidFill>
                  <a:srgbClr val="FFFFFF"/>
                </a:solidFill>
                <a:latin typeface="Poppins"/>
                <a:cs typeface="Poppins"/>
              </a:rPr>
              <a:t>Phase 1 (Planning): Complete. The system architecture is approved and the repository is live.</a:t>
            </a:r>
          </a:p>
          <a:p>
            <a:pPr lvl="0">
              <a:lnSpc>
                <a:spcPct val="200000"/>
              </a:lnSpc>
            </a:pPr>
            <a:r>
              <a:rPr lang="en-US" sz="2299" dirty="0">
                <a:solidFill>
                  <a:srgbClr val="FFFFFF"/>
                </a:solidFill>
                <a:latin typeface="Poppins"/>
                <a:cs typeface="Poppins"/>
              </a:rPr>
              <a:t>Phase 2 (Core Development): In Progress. We are currently building the middleware to connect the Web Frontend to the Database.</a:t>
            </a:r>
          </a:p>
          <a:p>
            <a:pPr lvl="0">
              <a:lnSpc>
                <a:spcPct val="200000"/>
              </a:lnSpc>
            </a:pPr>
            <a:r>
              <a:rPr lang="en-US" sz="2299" dirty="0">
                <a:solidFill>
                  <a:srgbClr val="FFFFFF"/>
                </a:solidFill>
                <a:latin typeface="Poppins"/>
                <a:cs typeface="Poppins"/>
              </a:rPr>
              <a:t>Phase 3 (Testing): Scheduled for early March.</a:t>
            </a:r>
          </a:p>
          <a:p>
            <a:pPr lvl="0">
              <a:lnSpc>
                <a:spcPct val="200000"/>
              </a:lnSpc>
            </a:pPr>
            <a:r>
              <a:rPr lang="en-US" sz="2299" dirty="0">
                <a:solidFill>
                  <a:srgbClr val="FFFFFF"/>
                </a:solidFill>
                <a:latin typeface="Poppins"/>
                <a:cs typeface="Poppins"/>
              </a:rPr>
              <a:t>Status: The project is on track for the Beta Release on March 13.</a:t>
            </a:r>
          </a:p>
          <a:p>
            <a:pPr lvl="0">
              <a:lnSpc>
                <a:spcPct val="200000"/>
              </a:lnSpc>
            </a:pPr>
            <a:endParaRPr lang="en-US" sz="2299" dirty="0">
              <a:solidFill>
                <a:srgbClr val="FFFFFF"/>
              </a:solidFill>
              <a:latin typeface="Poppins"/>
              <a:cs typeface="Poppins"/>
            </a:endParaRPr>
          </a:p>
          <a:p>
            <a:pPr algn="l">
              <a:lnSpc>
                <a:spcPct val="200000"/>
              </a:lnSpc>
            </a:pPr>
            <a:endParaRPr lang="en-US" sz="2299" dirty="0">
              <a:solidFill>
                <a:srgbClr val="FFFFFF"/>
              </a:solidFill>
              <a:latin typeface="Poppins"/>
              <a:ea typeface="Poppins"/>
              <a:cs typeface="Poppins"/>
              <a:sym typeface="Poppins"/>
            </a:endParaRPr>
          </a:p>
        </p:txBody>
      </p:sp>
    </p:spTree>
    <p:extLst>
      <p:ext uri="{BB962C8B-B14F-4D97-AF65-F5344CB8AC3E}">
        <p14:creationId xmlns:p14="http://schemas.microsoft.com/office/powerpoint/2010/main" val="1884489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31B3A"/>
        </a:solidFill>
        <a:effectLst/>
      </p:bgPr>
    </p:bg>
    <p:spTree>
      <p:nvGrpSpPr>
        <p:cNvPr id="1" name="">
          <a:extLst>
            <a:ext uri="{FF2B5EF4-FFF2-40B4-BE49-F238E27FC236}">
              <a16:creationId xmlns:a16="http://schemas.microsoft.com/office/drawing/2014/main" id="{FA1FD094-98D5-FE85-9CDC-6E1EB8E3C9C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61E6812-529D-B28D-D0CA-E403C1A2491F}"/>
              </a:ext>
            </a:extLst>
          </p:cNvPr>
          <p:cNvSpPr/>
          <p:nvPr/>
        </p:nvSpPr>
        <p:spPr>
          <a:xfrm flipH="1">
            <a:off x="13551407" y="8525434"/>
            <a:ext cx="4736593" cy="2889322"/>
          </a:xfrm>
          <a:custGeom>
            <a:avLst/>
            <a:gdLst/>
            <a:ahLst/>
            <a:cxnLst/>
            <a:rect l="l" t="t" r="r" b="b"/>
            <a:pathLst>
              <a:path w="4736593" h="2889322">
                <a:moveTo>
                  <a:pt x="4736593" y="0"/>
                </a:moveTo>
                <a:lnTo>
                  <a:pt x="0" y="0"/>
                </a:lnTo>
                <a:lnTo>
                  <a:pt x="0" y="2889322"/>
                </a:lnTo>
                <a:lnTo>
                  <a:pt x="4736593" y="2889322"/>
                </a:lnTo>
                <a:lnTo>
                  <a:pt x="4736593"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D3DAAB09-3548-27A5-973B-FC372A0C20D2}"/>
              </a:ext>
            </a:extLst>
          </p:cNvPr>
          <p:cNvSpPr/>
          <p:nvPr/>
        </p:nvSpPr>
        <p:spPr>
          <a:xfrm flipV="1">
            <a:off x="-1598042" y="-2181080"/>
            <a:ext cx="9367640" cy="5714260"/>
          </a:xfrm>
          <a:custGeom>
            <a:avLst/>
            <a:gdLst/>
            <a:ahLst/>
            <a:cxnLst/>
            <a:rect l="l" t="t" r="r" b="b"/>
            <a:pathLst>
              <a:path w="9367640" h="5714260">
                <a:moveTo>
                  <a:pt x="0" y="5714260"/>
                </a:moveTo>
                <a:lnTo>
                  <a:pt x="9367639" y="5714260"/>
                </a:lnTo>
                <a:lnTo>
                  <a:pt x="9367639" y="0"/>
                </a:lnTo>
                <a:lnTo>
                  <a:pt x="0" y="0"/>
                </a:lnTo>
                <a:lnTo>
                  <a:pt x="0" y="5714260"/>
                </a:lnTo>
                <a:close/>
              </a:path>
            </a:pathLst>
          </a:custGeom>
          <a:blipFill>
            <a:blip r:embed="rId2">
              <a:alphaModFix amt="65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a:extLst>
              <a:ext uri="{FF2B5EF4-FFF2-40B4-BE49-F238E27FC236}">
                <a16:creationId xmlns:a16="http://schemas.microsoft.com/office/drawing/2014/main" id="{0F70F8B1-3D02-7D36-4429-8EAEB0DF0634}"/>
              </a:ext>
            </a:extLst>
          </p:cNvPr>
          <p:cNvSpPr/>
          <p:nvPr/>
        </p:nvSpPr>
        <p:spPr>
          <a:xfrm>
            <a:off x="15087276" y="1028700"/>
            <a:ext cx="2172024" cy="855235"/>
          </a:xfrm>
          <a:custGeom>
            <a:avLst/>
            <a:gdLst/>
            <a:ahLst/>
            <a:cxnLst/>
            <a:rect l="l" t="t" r="r" b="b"/>
            <a:pathLst>
              <a:path w="2172024" h="855235">
                <a:moveTo>
                  <a:pt x="0" y="0"/>
                </a:moveTo>
                <a:lnTo>
                  <a:pt x="2172024" y="0"/>
                </a:lnTo>
                <a:lnTo>
                  <a:pt x="2172024" y="855235"/>
                </a:lnTo>
                <a:lnTo>
                  <a:pt x="0" y="8552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5" name="TextBox 15">
            <a:extLst>
              <a:ext uri="{FF2B5EF4-FFF2-40B4-BE49-F238E27FC236}">
                <a16:creationId xmlns:a16="http://schemas.microsoft.com/office/drawing/2014/main" id="{0F17CA9C-EDE7-D8DB-094E-777E79B03211}"/>
              </a:ext>
            </a:extLst>
          </p:cNvPr>
          <p:cNvSpPr txBox="1"/>
          <p:nvPr/>
        </p:nvSpPr>
        <p:spPr>
          <a:xfrm>
            <a:off x="930546" y="2104964"/>
            <a:ext cx="13242654" cy="1061894"/>
          </a:xfrm>
          <a:prstGeom prst="rect">
            <a:avLst/>
          </a:prstGeom>
        </p:spPr>
        <p:txBody>
          <a:bodyPr wrap="square" lIns="0" tIns="0" rIns="0" bIns="0" rtlCol="0" anchor="t">
            <a:spAutoFit/>
          </a:bodyPr>
          <a:lstStyle/>
          <a:p>
            <a:pPr>
              <a:lnSpc>
                <a:spcPts val="7852"/>
              </a:lnSpc>
            </a:pPr>
            <a:r>
              <a:rPr lang="en-US" sz="7852" b="1" dirty="0">
                <a:solidFill>
                  <a:srgbClr val="FFFFFF"/>
                </a:solidFill>
                <a:latin typeface="Garet Bold"/>
              </a:rPr>
              <a:t>Next Steps &amp; Roles    </a:t>
            </a:r>
            <a:endParaRPr lang="en-US" sz="7852" b="1" dirty="0">
              <a:solidFill>
                <a:srgbClr val="FFFFFF"/>
              </a:solidFill>
              <a:latin typeface="Garet Bold"/>
              <a:sym typeface="Garet Bold"/>
            </a:endParaRPr>
          </a:p>
        </p:txBody>
      </p:sp>
      <p:sp>
        <p:nvSpPr>
          <p:cNvPr id="16" name="TextBox 16">
            <a:extLst>
              <a:ext uri="{FF2B5EF4-FFF2-40B4-BE49-F238E27FC236}">
                <a16:creationId xmlns:a16="http://schemas.microsoft.com/office/drawing/2014/main" id="{E51B161F-1D56-A82F-7A5E-28964FC24575}"/>
              </a:ext>
            </a:extLst>
          </p:cNvPr>
          <p:cNvSpPr txBox="1"/>
          <p:nvPr/>
        </p:nvSpPr>
        <p:spPr>
          <a:xfrm>
            <a:off x="910881" y="3947357"/>
            <a:ext cx="15757254" cy="6981911"/>
          </a:xfrm>
          <a:prstGeom prst="rect">
            <a:avLst/>
          </a:prstGeom>
        </p:spPr>
        <p:txBody>
          <a:bodyPr wrap="square" lIns="0" tIns="0" rIns="0" bIns="0" rtlCol="0" anchor="t">
            <a:spAutoFit/>
          </a:bodyPr>
          <a:lstStyle/>
          <a:p>
            <a:pPr lvl="0">
              <a:lnSpc>
                <a:spcPct val="200000"/>
              </a:lnSpc>
            </a:pPr>
            <a:r>
              <a:rPr lang="en-US" sz="2299" dirty="0">
                <a:solidFill>
                  <a:srgbClr val="FFFFFF"/>
                </a:solidFill>
                <a:latin typeface="Poppins"/>
                <a:cs typeface="Poppins"/>
              </a:rPr>
              <a:t>Stan</a:t>
            </a:r>
          </a:p>
          <a:p>
            <a:pPr lvl="0">
              <a:lnSpc>
                <a:spcPct val="200000"/>
              </a:lnSpc>
            </a:pPr>
            <a:r>
              <a:rPr lang="en-US" sz="2299" dirty="0">
                <a:solidFill>
                  <a:srgbClr val="FFFFFF"/>
                </a:solidFill>
                <a:latin typeface="Poppins"/>
                <a:cs typeface="Poppins"/>
              </a:rPr>
              <a:t>Milestone 2 Target: Functional Beta Version.</a:t>
            </a:r>
          </a:p>
          <a:p>
            <a:pPr lvl="0">
              <a:lnSpc>
                <a:spcPct val="200000"/>
              </a:lnSpc>
            </a:pPr>
            <a:r>
              <a:rPr lang="en-US" sz="2299" dirty="0">
                <a:solidFill>
                  <a:srgbClr val="FFFFFF"/>
                </a:solidFill>
                <a:latin typeface="Poppins"/>
                <a:cs typeface="Poppins"/>
              </a:rPr>
              <a:t>Team Assignments:</a:t>
            </a:r>
          </a:p>
          <a:p>
            <a:pPr lvl="1">
              <a:lnSpc>
                <a:spcPct val="200000"/>
              </a:lnSpc>
            </a:pPr>
            <a:r>
              <a:rPr lang="en-US" sz="2299" dirty="0">
                <a:solidFill>
                  <a:srgbClr val="FFFFFF"/>
                </a:solidFill>
                <a:latin typeface="Poppins"/>
                <a:cs typeface="Poppins"/>
              </a:rPr>
              <a:t>Philip: Finalize Dashboard UI and Form Validation.</a:t>
            </a:r>
          </a:p>
          <a:p>
            <a:pPr lvl="1">
              <a:lnSpc>
                <a:spcPct val="200000"/>
              </a:lnSpc>
            </a:pPr>
            <a:r>
              <a:rPr lang="en-US" sz="2299" dirty="0">
                <a:solidFill>
                  <a:srgbClr val="FFFFFF"/>
                </a:solidFill>
                <a:latin typeface="Poppins"/>
                <a:cs typeface="Poppins"/>
              </a:rPr>
              <a:t>Stanimir: Implement PHP Database connectivity and Security.</a:t>
            </a:r>
          </a:p>
          <a:p>
            <a:pPr lvl="1">
              <a:lnSpc>
                <a:spcPct val="200000"/>
              </a:lnSpc>
            </a:pPr>
            <a:r>
              <a:rPr lang="en-US" sz="2299" dirty="0">
                <a:solidFill>
                  <a:srgbClr val="FFFFFF"/>
                </a:solidFill>
                <a:latin typeface="Poppins"/>
                <a:cs typeface="Poppins"/>
              </a:rPr>
              <a:t>Mohamad: Finalize the C++ priority sorting algorithm.</a:t>
            </a:r>
          </a:p>
          <a:p>
            <a:pPr lvl="1">
              <a:lnSpc>
                <a:spcPct val="200000"/>
              </a:lnSpc>
            </a:pPr>
            <a:r>
              <a:rPr lang="en-US" sz="2299" dirty="0">
                <a:solidFill>
                  <a:srgbClr val="FFFFFF"/>
                </a:solidFill>
                <a:latin typeface="Poppins"/>
                <a:cs typeface="Poppins"/>
              </a:rPr>
              <a:t>Kaleb: Implement and test the Java Watchdog polling loop.</a:t>
            </a:r>
          </a:p>
          <a:p>
            <a:pPr lvl="0">
              <a:lnSpc>
                <a:spcPct val="200000"/>
              </a:lnSpc>
            </a:pPr>
            <a:r>
              <a:rPr lang="en-US" sz="2299" dirty="0">
                <a:solidFill>
                  <a:srgbClr val="FFFFFF"/>
                </a:solidFill>
                <a:latin typeface="Poppins"/>
                <a:cs typeface="Poppins"/>
              </a:rPr>
              <a:t>Documentation: Detailed task plans are available on our GitHub repository.</a:t>
            </a:r>
          </a:p>
          <a:p>
            <a:pPr lvl="0">
              <a:lnSpc>
                <a:spcPct val="200000"/>
              </a:lnSpc>
            </a:pPr>
            <a:endParaRPr lang="en-US" sz="2299" dirty="0">
              <a:solidFill>
                <a:srgbClr val="FFFFFF"/>
              </a:solidFill>
              <a:latin typeface="Poppins"/>
              <a:cs typeface="Poppins"/>
            </a:endParaRPr>
          </a:p>
          <a:p>
            <a:pPr algn="l">
              <a:lnSpc>
                <a:spcPct val="200000"/>
              </a:lnSpc>
            </a:pPr>
            <a:endParaRPr lang="en-US" sz="2299" dirty="0">
              <a:solidFill>
                <a:srgbClr val="FFFFFF"/>
              </a:solidFill>
              <a:latin typeface="Poppins"/>
              <a:ea typeface="Poppins"/>
              <a:cs typeface="Poppins"/>
              <a:sym typeface="Poppins"/>
            </a:endParaRPr>
          </a:p>
        </p:txBody>
      </p:sp>
    </p:spTree>
    <p:extLst>
      <p:ext uri="{BB962C8B-B14F-4D97-AF65-F5344CB8AC3E}">
        <p14:creationId xmlns:p14="http://schemas.microsoft.com/office/powerpoint/2010/main" val="1940771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31B3A"/>
        </a:solidFill>
        <a:effectLst/>
      </p:bgPr>
    </p:bg>
    <p:spTree>
      <p:nvGrpSpPr>
        <p:cNvPr id="1" name="">
          <a:extLst>
            <a:ext uri="{FF2B5EF4-FFF2-40B4-BE49-F238E27FC236}">
              <a16:creationId xmlns:a16="http://schemas.microsoft.com/office/drawing/2014/main" id="{D62BB27F-128C-248E-BFE7-AB1F278C660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D089DE9-E7F2-AFC3-4FDF-3A28C2D7EA44}"/>
              </a:ext>
            </a:extLst>
          </p:cNvPr>
          <p:cNvSpPr/>
          <p:nvPr/>
        </p:nvSpPr>
        <p:spPr>
          <a:xfrm flipH="1">
            <a:off x="13551407" y="8525434"/>
            <a:ext cx="4736593" cy="2889322"/>
          </a:xfrm>
          <a:custGeom>
            <a:avLst/>
            <a:gdLst/>
            <a:ahLst/>
            <a:cxnLst/>
            <a:rect l="l" t="t" r="r" b="b"/>
            <a:pathLst>
              <a:path w="4736593" h="2889322">
                <a:moveTo>
                  <a:pt x="4736593" y="0"/>
                </a:moveTo>
                <a:lnTo>
                  <a:pt x="0" y="0"/>
                </a:lnTo>
                <a:lnTo>
                  <a:pt x="0" y="2889322"/>
                </a:lnTo>
                <a:lnTo>
                  <a:pt x="4736593" y="2889322"/>
                </a:lnTo>
                <a:lnTo>
                  <a:pt x="4736593"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978A6EF3-089F-847B-4A20-B736D83B418C}"/>
              </a:ext>
            </a:extLst>
          </p:cNvPr>
          <p:cNvSpPr/>
          <p:nvPr/>
        </p:nvSpPr>
        <p:spPr>
          <a:xfrm flipV="1">
            <a:off x="-1598042" y="-2181080"/>
            <a:ext cx="9367640" cy="5714260"/>
          </a:xfrm>
          <a:custGeom>
            <a:avLst/>
            <a:gdLst/>
            <a:ahLst/>
            <a:cxnLst/>
            <a:rect l="l" t="t" r="r" b="b"/>
            <a:pathLst>
              <a:path w="9367640" h="5714260">
                <a:moveTo>
                  <a:pt x="0" y="5714260"/>
                </a:moveTo>
                <a:lnTo>
                  <a:pt x="9367639" y="5714260"/>
                </a:lnTo>
                <a:lnTo>
                  <a:pt x="9367639" y="0"/>
                </a:lnTo>
                <a:lnTo>
                  <a:pt x="0" y="0"/>
                </a:lnTo>
                <a:lnTo>
                  <a:pt x="0" y="5714260"/>
                </a:lnTo>
                <a:close/>
              </a:path>
            </a:pathLst>
          </a:custGeom>
          <a:blipFill>
            <a:blip r:embed="rId2">
              <a:alphaModFix amt="65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a:extLst>
              <a:ext uri="{FF2B5EF4-FFF2-40B4-BE49-F238E27FC236}">
                <a16:creationId xmlns:a16="http://schemas.microsoft.com/office/drawing/2014/main" id="{F3FB7735-C0F1-B56D-2D7F-4541C8BFAD8B}"/>
              </a:ext>
            </a:extLst>
          </p:cNvPr>
          <p:cNvSpPr/>
          <p:nvPr/>
        </p:nvSpPr>
        <p:spPr>
          <a:xfrm>
            <a:off x="15087276" y="1028700"/>
            <a:ext cx="2172024" cy="855235"/>
          </a:xfrm>
          <a:custGeom>
            <a:avLst/>
            <a:gdLst/>
            <a:ahLst/>
            <a:cxnLst/>
            <a:rect l="l" t="t" r="r" b="b"/>
            <a:pathLst>
              <a:path w="2172024" h="855235">
                <a:moveTo>
                  <a:pt x="0" y="0"/>
                </a:moveTo>
                <a:lnTo>
                  <a:pt x="2172024" y="0"/>
                </a:lnTo>
                <a:lnTo>
                  <a:pt x="2172024" y="855235"/>
                </a:lnTo>
                <a:lnTo>
                  <a:pt x="0" y="8552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TextBox 18">
            <a:extLst>
              <a:ext uri="{FF2B5EF4-FFF2-40B4-BE49-F238E27FC236}">
                <a16:creationId xmlns:a16="http://schemas.microsoft.com/office/drawing/2014/main" id="{119086BB-CA38-DAC0-F1CE-058D4152BB6E}"/>
              </a:ext>
            </a:extLst>
          </p:cNvPr>
          <p:cNvSpPr txBox="1"/>
          <p:nvPr/>
        </p:nvSpPr>
        <p:spPr>
          <a:xfrm>
            <a:off x="3134453" y="3044353"/>
            <a:ext cx="12019094" cy="2386331"/>
          </a:xfrm>
          <a:prstGeom prst="rect">
            <a:avLst/>
          </a:prstGeom>
        </p:spPr>
        <p:txBody>
          <a:bodyPr lIns="0" tIns="0" rIns="0" bIns="0" rtlCol="0" anchor="t">
            <a:spAutoFit/>
          </a:bodyPr>
          <a:lstStyle/>
          <a:p>
            <a:pPr algn="ctr">
              <a:lnSpc>
                <a:spcPts val="9200"/>
              </a:lnSpc>
            </a:pPr>
            <a:r>
              <a:rPr lang="en-US" sz="9200" b="1" dirty="0">
                <a:solidFill>
                  <a:srgbClr val="FFFFFF"/>
                </a:solidFill>
                <a:latin typeface="Garet Bold"/>
                <a:ea typeface="Garet Bold"/>
                <a:cs typeface="Garet Bold"/>
                <a:sym typeface="Garet Bold"/>
              </a:rPr>
              <a:t>THANKS FOR YOUR ATTENTION!</a:t>
            </a:r>
          </a:p>
        </p:txBody>
      </p:sp>
    </p:spTree>
    <p:extLst>
      <p:ext uri="{BB962C8B-B14F-4D97-AF65-F5344CB8AC3E}">
        <p14:creationId xmlns:p14="http://schemas.microsoft.com/office/powerpoint/2010/main" val="1774641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110</TotalTime>
  <Words>525</Words>
  <Application>Microsoft Office PowerPoint</Application>
  <PresentationFormat>Custom</PresentationFormat>
  <Paragraphs>53</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Garet Bold</vt:lpstr>
      <vt:lpstr>Arial</vt:lpstr>
      <vt:lpstr>Aptos</vt:lpstr>
      <vt:lpstr>Poppins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Dark Blue Gradient Modern Tech Company Presentation</dc:title>
  <dc:creator>Stanimir Todorov</dc:creator>
  <cp:lastModifiedBy>Philip Valer Polanco</cp:lastModifiedBy>
  <cp:revision>11</cp:revision>
  <dcterms:created xsi:type="dcterms:W3CDTF">2006-08-16T00:00:00Z</dcterms:created>
  <dcterms:modified xsi:type="dcterms:W3CDTF">2026-02-07T18:52:44Z</dcterms:modified>
  <dc:identifier>DAHAaoM5Lrs</dc:identifier>
</cp:coreProperties>
</file>